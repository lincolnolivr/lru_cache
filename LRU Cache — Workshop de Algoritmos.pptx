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embeddedFontLst>
    <p:embeddedFont>
      <p:font typeface="IBM Plex Sans" panose="020B0503050203000203" pitchFamily="34" charset="0"/>
      <p:regular r:id="rId20"/>
      <p:bold r:id="rId21"/>
    </p:embeddedFont>
    <p:embeddedFont>
      <p:font typeface="JetBrains Mono" panose="020B0604020202020204" charset="0"/>
      <p:regular r:id="rId22"/>
      <p:bold r:id="rId23"/>
    </p:embeddedFont>
    <p:embeddedFont>
      <p:font typeface="Space Grotesk" panose="020B0604020202020204"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12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Este é o bloco de fechamento do workshop: o único problema que combina duas estruturas ao mesmo tempo. A faixa de quadradinhos já antecipa a ideia: o mais recente à esquerda, o mais antigo à direita, quase saindo.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Apresentação rápida, 1 minuto. Comecei como Jovem Aprendiz em 2017 e passei por Marketing, REC, Financeiro, Logística e Compras até chegar ao Hub Performance SP. Gancho para o tema: trabalhar com dados o dia todo significa lidar com cache o dia todo — dashboards, queries e APIs vivem disso.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Analogia da mesa: o cache é rápido e pequeno; a fonte original é grande e lenta. Todo cache tem capacidade fixa, então a pergunta inevitável é: quando enche, quem eu tiro da mesa? Essa decisão é a política de despejo.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Belády (IBM, 1966) descreveu a política ótima: tirar quem será usado mais tarde no futuro. Impossível na prática. Por isso sistemas reais usam aproximações. A aposta do LRU: o passado recente prevê o futuro próximo — se você usou agora, provavelmente vai usar de novo logo.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Faça a sequência devagar. O ponto-chave está no get A: ler também conta como uso, então A volta para a frente. Por isso, quando D chega, quem sai é B, não A. Esse detalhe é a armadilha número um do exercício.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LRU ou variações dele estão em praticamente toda a pilha: Redis com allkeys-lru, page cache e buffer cache do Linux, buffer pool de InnoDB e PostgreSQL, e de forma aproximada no cache de CPU, porque LRU exato em hardware custa caro demais. Pergunte à turma quem já configurou um maxmemory-policy no Redis.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Traga para perto da turma. O exemplo mais visual é a lista de arquivos recentes do Office ou do celular: é literalmente um LRU de capacidade fixa. Pergunte: o que acontece com a lista quando você abre um arquivo que já estava nela? Ele sobe pro topo — é o get.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ponte para a prática, sem amarrar a uma linguagem. Cache vale onde a mesma leitura cara se repete: consultas ao banco, chamadas a APIs (especialmente pagas ou com rate limit), cálculos pesados e conteúdo que muda pouco. As três perguntas guiam qualquer decisão: se a leitura não se repete, cache não ajuda; o limite é a capacidade — e é aí que entra o LRU, decidindo quem sai quando enche; e dado velho é o maior risco de cache, então defina expiração ou invalide quando o dado mudar. Quase toda linguagem e framework já tem um cache LRU pronto — o importante é saber quando usar e como configurar.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Big-O não mede segundos, mede crescimento. Use a analogia da estante: ir direto à posição (O(1)), procurar livro por livro (O(n)), comparar cada livro com todos os outros (O(n²)). Gancho para o próximo slide: o exercício exige get e put em O(1), e nenhuma estrutura sozinha entrega isso — o hashmap busca em O(1) mas não guarda ordem; a lista guarda ordem mas busca em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central: nenhuma das duas sozinha resolve. O hashmap aponta direto para o nó da lista; a lista mantém a ordem de uso. HEAD e TAIL são nós sentinela: evitam casos especiais de lista vazia. Usou um item: tira o nó de onde está e coloca logo depois do HEAD. Estourou: remove o nó antes do TAIL.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começar, avise: cirurgia de ponteiro com calma vence pressa. Dê dicas em forma de pergunta, sem entregar a técnica: “qual estrutura acha uma chave em O(1)?”, “e qual move um item para a frente em O(1)?”. Quem terminar cedo: tente com collections.OrderedDict e compare.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Percorra a tabela com a turma antes do código. Destaque a linha do get(1): como 1 foi lido, ele sobe e quem sai no put(3) é o 2. Quem esqueceu de atualizar a ordem no get vai remover o 1 aqui e errar todo o resto.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Desenhe a lista passo a passo enquanto lê o código. Sentinelas HEAD e TAIL eliminam os ifs de lista vazia. _remove mexe nos dois vizinhos; _add_front mexe em quatro ponteiros — é aqui que aparecem os erros silenciosos. No put, o nó despejado precisa guardar a própria chave para ser apagado do map: por isso Node tem key, não só val.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a correção com os números: O(1) por operação, O(capacidade) de espaço. As três armadilhas vêm do guia. Mencione o OrderedDict como versão do dia a dia, mas reforce que o entrevistador quer ver a composição das duas estruturas.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Ponte para a prática: ninguém reimplementa a lista duplamente encadeada no trabalho — mas entender o mecanismo ajuda a escolher e configurar. Três níveis: dentro de uma função (@lru_cache, já vem no Python), dentro da aplicação (cachetools; TTLCache expira por tempo) e entre servidores (Redis, com maxmemory e maxmemory-policy allkeys-lru, no padrão cache-aside: tenta o cache, se não achar vai ao banco e grava no cache). Cuidados: dados que mudam muito ficam desatualizados no cache — defina expiração ou invalide ao escrever. Mostre buscar_cliente.cache_info() para ver hits e misses ao vivo.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Mensagem final do guia. LRU é um design de sistema em miniatura: não é aplicar um algoritmo pronto, é decidir como compor estruturas sob uma restrição real (O(1)). Abra para perguntas.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E9F8D-E6AB-FFE8-F2A1-3E9B0FDC3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13236-5AF9-E3D5-1A81-FFE5FC62A5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274A0-1F42-0A97-2173-667F352A4AF3}"/>
              </a:ext>
            </a:extLst>
          </p:cNvPr>
          <p:cNvSpPr>
            <a:spLocks noGrp="1"/>
          </p:cNvSpPr>
          <p:nvPr>
            <p:ph type="body" idx="1"/>
          </p:nvPr>
        </p:nvSpPr>
        <p:spPr/>
        <p:txBody>
          <a:bodyPr/>
          <a:lstStyle/>
          <a:p>
            <a:r>
              <a:rPr lang="en-US" dirty="0"/>
              <a:t>Feche a correção com os números: O(1) por operação, O(capacidade) de espaço. As três armadilhas vêm do guia. Mencione o OrderedDict como versão do dia a dia, mas reforce que o entrevistador quer ver a composição das duas estruturas.</a:t>
            </a:r>
          </a:p>
        </p:txBody>
      </p:sp>
      <p:sp>
        <p:nvSpPr>
          <p:cNvPr id="4" name="Slide Number Placeholder 3">
            <a:extLst>
              <a:ext uri="{FF2B5EF4-FFF2-40B4-BE49-F238E27FC236}">
                <a16:creationId xmlns:a16="http://schemas.microsoft.com/office/drawing/2014/main" id="{A91B44F1-C625-A9B9-9D0C-19AB2A97B46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47361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6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2328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30921"/>
            <a:ext cx="10566400" cy="3914279"/>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6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2328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30921"/>
            <a:ext cx="10566400" cy="3914279"/>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lincolnolivr/lru_cache"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159523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F2A541"/>
                </a:solidFill>
                <a:latin typeface="JetBrains Mono" pitchFamily="49" charset="0"/>
                <a:ea typeface="JetBrains Mono" pitchFamily="49" charset="-122"/>
                <a:cs typeface="JetBrains Mono" pitchFamily="49" charset="-120"/>
              </a:rPr>
              <a:t>WORKSHOP DE ALGORITMOS · BLOCO 4</a:t>
            </a:r>
            <a:endParaRPr lang="en-US" sz="1400" dirty="0"/>
          </a:p>
        </p:txBody>
      </p:sp>
      <p:sp>
        <p:nvSpPr>
          <p:cNvPr id="3" name="Text 1"/>
          <p:cNvSpPr>
            <a:spLocks noGrp="1"/>
          </p:cNvSpPr>
          <p:nvPr>
            <p:ph type="title"/>
          </p:nvPr>
        </p:nvSpPr>
        <p:spPr>
          <a:xfrm>
            <a:off x="812800" y="2098080"/>
            <a:ext cx="10883392" cy="1295400"/>
          </a:xfrm>
          <a:prstGeom prst="rect">
            <a:avLst/>
          </a:prstGeom>
          <a:noFill/>
          <a:ln/>
        </p:spPr>
        <p:txBody>
          <a:bodyPr wrap="square" lIns="0" tIns="0" rIns="0" bIns="0" rtlCol="0" anchor="t">
            <a:normAutofit fontScale="90000"/>
          </a:bodyPr>
          <a:lstStyle/>
          <a:p>
            <a:pPr marL="0" indent="0" algn="l">
              <a:lnSpc>
                <a:spcPts val="10000"/>
              </a:lnSpc>
              <a:buNone/>
            </a:pPr>
            <a:r>
              <a:rPr lang="en-US" sz="10000" b="1" i="0" kern="0" spc="-200" dirty="0">
                <a:solidFill>
                  <a:srgbClr val="F4F1EA"/>
                </a:solidFill>
                <a:latin typeface="Space Grotesk" pitchFamily="34" charset="0"/>
                <a:ea typeface="Space Grotesk" pitchFamily="34" charset="-122"/>
                <a:cs typeface="Space Grotesk" pitchFamily="34" charset="-120"/>
              </a:rPr>
              <a:t>LRU Cache</a:t>
            </a:r>
            <a:endParaRPr lang="en-US" sz="10000" dirty="0"/>
          </a:p>
        </p:txBody>
      </p:sp>
      <p:sp>
        <p:nvSpPr>
          <p:cNvPr id="4" name="Text 2"/>
          <p:cNvSpPr/>
          <p:nvPr/>
        </p:nvSpPr>
        <p:spPr>
          <a:xfrm>
            <a:off x="812800" y="3622080"/>
            <a:ext cx="71945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C0CC"/>
                </a:solidFill>
                <a:latin typeface="IBM Plex Sans" pitchFamily="34" charset="0"/>
                <a:ea typeface="IBM Plex Sans" pitchFamily="34" charset="-122"/>
                <a:cs typeface="IBM Plex Sans" pitchFamily="34" charset="-120"/>
              </a:rPr>
              <a:t>Como os sistemas decidem o que fica na memória — e o que sai.</a:t>
            </a:r>
            <a:endParaRPr lang="en-US" sz="2200" dirty="0"/>
          </a:p>
        </p:txBody>
      </p:sp>
      <p:sp>
        <p:nvSpPr>
          <p:cNvPr id="5" name="Shape 3"/>
          <p:cNvSpPr/>
          <p:nvPr/>
        </p:nvSpPr>
        <p:spPr>
          <a:xfrm>
            <a:off x="812800" y="4602361"/>
            <a:ext cx="762000" cy="457200"/>
          </a:xfrm>
          <a:prstGeom prst="roundRect">
            <a:avLst>
              <a:gd name="adj" fmla="val 16667"/>
            </a:avLst>
          </a:prstGeom>
          <a:solidFill>
            <a:srgbClr val="F2A541"/>
          </a:solidFill>
          <a:ln/>
        </p:spPr>
        <p:txBody>
          <a:bodyPr/>
          <a:lstStyle/>
          <a:p>
            <a:endParaRPr lang="pt-BR"/>
          </a:p>
        </p:txBody>
      </p:sp>
      <p:sp>
        <p:nvSpPr>
          <p:cNvPr id="6" name="Shape 4"/>
          <p:cNvSpPr/>
          <p:nvPr/>
        </p:nvSpPr>
        <p:spPr>
          <a:xfrm>
            <a:off x="1676400" y="4602361"/>
            <a:ext cx="762000" cy="457200"/>
          </a:xfrm>
          <a:prstGeom prst="roundRect">
            <a:avLst>
              <a:gd name="adj" fmla="val 16667"/>
            </a:avLst>
          </a:prstGeom>
          <a:solidFill>
            <a:srgbClr val="C99A5E"/>
          </a:solidFill>
          <a:ln/>
        </p:spPr>
        <p:txBody>
          <a:bodyPr/>
          <a:lstStyle/>
          <a:p>
            <a:endParaRPr lang="pt-BR"/>
          </a:p>
        </p:txBody>
      </p:sp>
      <p:sp>
        <p:nvSpPr>
          <p:cNvPr id="7" name="Shape 5"/>
          <p:cNvSpPr/>
          <p:nvPr/>
        </p:nvSpPr>
        <p:spPr>
          <a:xfrm>
            <a:off x="2540000" y="4602361"/>
            <a:ext cx="762000" cy="457200"/>
          </a:xfrm>
          <a:prstGeom prst="roundRect">
            <a:avLst>
              <a:gd name="adj" fmla="val 16667"/>
            </a:avLst>
          </a:prstGeom>
          <a:solidFill>
            <a:srgbClr val="9C9581"/>
          </a:solidFill>
          <a:ln/>
        </p:spPr>
        <p:txBody>
          <a:bodyPr/>
          <a:lstStyle/>
          <a:p>
            <a:endParaRPr lang="pt-BR"/>
          </a:p>
        </p:txBody>
      </p:sp>
      <p:sp>
        <p:nvSpPr>
          <p:cNvPr id="8" name="Shape 6"/>
          <p:cNvSpPr/>
          <p:nvPr/>
        </p:nvSpPr>
        <p:spPr>
          <a:xfrm>
            <a:off x="3403600" y="4602361"/>
            <a:ext cx="762000" cy="457200"/>
          </a:xfrm>
          <a:prstGeom prst="roundRect">
            <a:avLst>
              <a:gd name="adj" fmla="val 16667"/>
            </a:avLst>
          </a:prstGeom>
          <a:solidFill>
            <a:srgbClr val="7E91B4"/>
          </a:solidFill>
          <a:ln/>
        </p:spPr>
        <p:txBody>
          <a:bodyPr/>
          <a:lstStyle/>
          <a:p>
            <a:endParaRPr lang="pt-BR"/>
          </a:p>
        </p:txBody>
      </p:sp>
      <p:sp>
        <p:nvSpPr>
          <p:cNvPr id="9" name="Shape 7"/>
          <p:cNvSpPr/>
          <p:nvPr/>
        </p:nvSpPr>
        <p:spPr>
          <a:xfrm>
            <a:off x="4267200" y="4602361"/>
            <a:ext cx="762000" cy="457200"/>
          </a:xfrm>
          <a:prstGeom prst="roundRect">
            <a:avLst>
              <a:gd name="adj" fmla="val 16667"/>
            </a:avLst>
          </a:prstGeom>
          <a:solidFill>
            <a:srgbClr val="6E9BF5">
              <a:alpha val="50000"/>
            </a:srgbClr>
          </a:solidFill>
          <a:ln/>
        </p:spPr>
        <p:txBody>
          <a:bodyPr/>
          <a:lstStyle/>
          <a:p>
            <a:endParaRPr lang="pt-BR"/>
          </a:p>
        </p:txBody>
      </p:sp>
      <p:sp>
        <p:nvSpPr>
          <p:cNvPr id="10" name="Text 8"/>
          <p:cNvSpPr/>
          <p:nvPr/>
        </p:nvSpPr>
        <p:spPr>
          <a:xfrm>
            <a:off x="5283200" y="4724301"/>
            <a:ext cx="175569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JetBrains Mono" pitchFamily="49" charset="0"/>
                <a:ea typeface="JetBrains Mono" pitchFamily="49" charset="-122"/>
                <a:cs typeface="JetBrains Mono" pitchFamily="49" charset="-120"/>
              </a:rPr>
              <a:t>recente → antigo</a:t>
            </a:r>
            <a:endParaRPr lang="en-US" sz="12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IBM Plex Sans" pitchFamily="34" charset="0"/>
                <a:ea typeface="IBM Plex Sans" pitchFamily="34" charset="-122"/>
                <a:cs typeface="IBM Plex Sans" pitchFamily="34" charset="-120"/>
              </a:rPr>
              <a:t>Lincoln Oliver · Especialista de Dados e 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pic>
        <p:nvPicPr>
          <p:cNvPr id="2" name="Image 0" descr="Imagem1.png"/>
          <p:cNvPicPr>
            <a:picLocks noChangeAspect="1"/>
          </p:cNvPicPr>
          <p:nvPr/>
        </p:nvPicPr>
        <p:blipFill>
          <a:blip r:embed="rId3"/>
          <a:srcRect t="21" b="21"/>
          <a:stretch/>
        </p:blipFill>
        <p:spPr>
          <a:xfrm>
            <a:off x="1168400" y="1682750"/>
            <a:ext cx="1955800" cy="1962150"/>
          </a:xfrm>
          <a:prstGeom prst="rect">
            <a:avLst/>
          </a:prstGeom>
        </p:spPr>
      </p:pic>
      <p:sp>
        <p:nvSpPr>
          <p:cNvPr id="3" name="Text 0"/>
          <p:cNvSpPr>
            <a:spLocks noGrp="1"/>
          </p:cNvSpPr>
          <p:nvPr>
            <p:ph type="title"/>
          </p:nvPr>
        </p:nvSpPr>
        <p:spPr>
          <a:xfrm>
            <a:off x="765175" y="3822700"/>
            <a:ext cx="2762250" cy="416520"/>
          </a:xfrm>
          <a:prstGeom prst="rect">
            <a:avLst/>
          </a:prstGeom>
          <a:noFill/>
          <a:ln/>
        </p:spPr>
        <p:txBody>
          <a:bodyPr wrap="square" lIns="0" tIns="0" rIns="0" bIns="0" rtlCol="0" anchor="t">
            <a:normAutofit/>
          </a:bodyPr>
          <a:lstStyle/>
          <a:p>
            <a:pPr marL="0" indent="0" algn="ctr">
              <a:lnSpc>
                <a:spcPts val="3080"/>
              </a:lnSpc>
              <a:buNone/>
            </a:pPr>
            <a:r>
              <a:rPr lang="en-US" sz="2800" b="1" i="0" dirty="0">
                <a:solidFill>
                  <a:srgbClr val="1A1D24"/>
                </a:solidFill>
                <a:latin typeface="Space Grotesk" pitchFamily="34" charset="0"/>
                <a:ea typeface="Space Grotesk" pitchFamily="34" charset="-122"/>
                <a:cs typeface="Space Grotesk" pitchFamily="34" charset="-120"/>
              </a:rPr>
              <a:t>Lincoln Oliver</a:t>
            </a:r>
            <a:endParaRPr lang="en-US" sz="2800" dirty="0"/>
          </a:p>
        </p:txBody>
      </p:sp>
      <p:sp>
        <p:nvSpPr>
          <p:cNvPr id="4" name="Text 1"/>
          <p:cNvSpPr/>
          <p:nvPr/>
        </p:nvSpPr>
        <p:spPr>
          <a:xfrm>
            <a:off x="772795" y="4391620"/>
            <a:ext cx="2747010" cy="487561"/>
          </a:xfrm>
          <a:prstGeom prst="rect">
            <a:avLst/>
          </a:prstGeom>
          <a:noFill/>
          <a:ln/>
        </p:spPr>
        <p:txBody>
          <a:bodyPr wrap="square" lIns="0" tIns="0" rIns="0" bIns="0" rtlCol="0" anchor="t">
            <a:normAutofit/>
          </a:bodyPr>
          <a:lstStyle/>
          <a:p>
            <a:pPr marL="0" indent="0" algn="ctr">
              <a:lnSpc>
                <a:spcPts val="1820"/>
              </a:lnSpc>
              <a:buNone/>
            </a:pPr>
            <a:r>
              <a:rPr lang="en-US" sz="1300" kern="0" spc="100" dirty="0">
                <a:solidFill>
                  <a:srgbClr val="A65A00"/>
                </a:solidFill>
                <a:latin typeface="JetBrains Mono" pitchFamily="49" charset="0"/>
                <a:ea typeface="JetBrains Mono" pitchFamily="49" charset="-122"/>
                <a:cs typeface="JetBrains Mono" pitchFamily="49" charset="-120"/>
              </a:rPr>
              <a:t>ESPECIALISTA DE DADOS E IA</a:t>
            </a:r>
            <a:endParaRPr lang="en-US" sz="1300" dirty="0"/>
          </a:p>
        </p:txBody>
      </p:sp>
      <p:sp>
        <p:nvSpPr>
          <p:cNvPr id="5" name="Text 2"/>
          <p:cNvSpPr/>
          <p:nvPr/>
        </p:nvSpPr>
        <p:spPr>
          <a:xfrm>
            <a:off x="4089400" y="745034"/>
            <a:ext cx="750849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4A5060"/>
                </a:solidFill>
                <a:latin typeface="JetBrains Mono" pitchFamily="49" charset="0"/>
                <a:ea typeface="JetBrains Mono" pitchFamily="49" charset="-122"/>
                <a:cs typeface="JetBrains Mono" pitchFamily="49" charset="-120"/>
              </a:rPr>
              <a:t>MINHA TRAJETÓRIA</a:t>
            </a:r>
            <a:endParaRPr lang="en-US" sz="1200" dirty="0"/>
          </a:p>
        </p:txBody>
      </p:sp>
      <p:sp>
        <p:nvSpPr>
          <p:cNvPr id="6" name="Text 3"/>
          <p:cNvSpPr/>
          <p:nvPr/>
        </p:nvSpPr>
        <p:spPr>
          <a:xfrm>
            <a:off x="4089400" y="1085354"/>
            <a:ext cx="911423" cy="340320"/>
          </a:xfrm>
          <a:prstGeom prst="roundRect">
            <a:avLst>
              <a:gd name="adj" fmla="val 14927"/>
            </a:avLst>
          </a:prstGeom>
          <a:solidFill>
            <a:srgbClr val="12161F"/>
          </a:solidFill>
          <a:ln/>
        </p:spPr>
        <p:txBody>
          <a:bodyPr wrap="none" lIns="0" tIns="0" rIns="0" bIns="0" rtlCol="0" anchor="ctr">
            <a:normAutofit/>
          </a:bodyPr>
          <a:lstStyle/>
          <a:p>
            <a:pPr marL="0" indent="0" algn="ctr">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Marketing</a:t>
            </a:r>
            <a:endParaRPr lang="en-US" sz="1200" dirty="0"/>
          </a:p>
        </p:txBody>
      </p:sp>
      <p:sp>
        <p:nvSpPr>
          <p:cNvPr id="7" name="Text 4"/>
          <p:cNvSpPr/>
          <p:nvPr/>
        </p:nvSpPr>
        <p:spPr>
          <a:xfrm>
            <a:off x="5051623" y="1148854"/>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IBM Plex Sans" pitchFamily="34" charset="0"/>
                <a:ea typeface="IBM Plex Sans" pitchFamily="34" charset="-122"/>
                <a:cs typeface="IBM Plex Sans" pitchFamily="34" charset="-120"/>
              </a:rPr>
              <a:t>→</a:t>
            </a:r>
            <a:endParaRPr lang="en-US" sz="1200" dirty="0"/>
          </a:p>
        </p:txBody>
      </p:sp>
      <p:sp>
        <p:nvSpPr>
          <p:cNvPr id="8" name="Text 5"/>
          <p:cNvSpPr/>
          <p:nvPr/>
        </p:nvSpPr>
        <p:spPr>
          <a:xfrm>
            <a:off x="5254823" y="1085354"/>
            <a:ext cx="1863527" cy="340320"/>
          </a:xfrm>
          <a:prstGeom prst="roundRect">
            <a:avLst>
              <a:gd name="adj" fmla="val 14927"/>
            </a:avLst>
          </a:prstGeom>
          <a:solidFill>
            <a:srgbClr val="12161F"/>
          </a:solidFill>
          <a:ln/>
        </p:spPr>
        <p:txBody>
          <a:bodyPr wrap="none" lIns="0" tIns="0" rIns="0" bIns="0" rtlCol="0" anchor="ctr">
            <a:normAutofit/>
          </a:bodyPr>
          <a:lstStyle/>
          <a:p>
            <a:pPr marL="0" indent="0" algn="ctr">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Atendimento ao Cliente</a:t>
            </a:r>
            <a:endParaRPr lang="en-US" sz="1200" dirty="0"/>
          </a:p>
        </p:txBody>
      </p:sp>
      <p:sp>
        <p:nvSpPr>
          <p:cNvPr id="9" name="Text 6"/>
          <p:cNvSpPr/>
          <p:nvPr/>
        </p:nvSpPr>
        <p:spPr>
          <a:xfrm>
            <a:off x="7169150" y="1148854"/>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IBM Plex Sans" pitchFamily="34" charset="0"/>
                <a:ea typeface="IBM Plex Sans" pitchFamily="34" charset="-122"/>
                <a:cs typeface="IBM Plex Sans" pitchFamily="34" charset="-120"/>
              </a:rPr>
              <a:t>→</a:t>
            </a:r>
            <a:endParaRPr lang="en-US" sz="1200" dirty="0"/>
          </a:p>
        </p:txBody>
      </p:sp>
      <p:sp>
        <p:nvSpPr>
          <p:cNvPr id="10" name="Text 7"/>
          <p:cNvSpPr/>
          <p:nvPr/>
        </p:nvSpPr>
        <p:spPr>
          <a:xfrm>
            <a:off x="7372350" y="1085354"/>
            <a:ext cx="946745" cy="340320"/>
          </a:xfrm>
          <a:prstGeom prst="roundRect">
            <a:avLst>
              <a:gd name="adj" fmla="val 14927"/>
            </a:avLst>
          </a:prstGeom>
          <a:solidFill>
            <a:srgbClr val="12161F"/>
          </a:solidFill>
          <a:ln/>
        </p:spPr>
        <p:txBody>
          <a:bodyPr wrap="none" lIns="0" tIns="0" rIns="0" bIns="0" rtlCol="0" anchor="ctr">
            <a:normAutofit/>
          </a:bodyPr>
          <a:lstStyle/>
          <a:p>
            <a:pPr marL="0" indent="0" algn="ctr">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Financeiro</a:t>
            </a:r>
            <a:endParaRPr lang="en-US" sz="1200" dirty="0"/>
          </a:p>
        </p:txBody>
      </p:sp>
      <p:sp>
        <p:nvSpPr>
          <p:cNvPr id="11" name="Text 8"/>
          <p:cNvSpPr/>
          <p:nvPr/>
        </p:nvSpPr>
        <p:spPr>
          <a:xfrm>
            <a:off x="8369895" y="1148854"/>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IBM Plex Sans" pitchFamily="34" charset="0"/>
                <a:ea typeface="IBM Plex Sans" pitchFamily="34" charset="-122"/>
                <a:cs typeface="IBM Plex Sans" pitchFamily="34" charset="-120"/>
              </a:rPr>
              <a:t>→</a:t>
            </a:r>
            <a:endParaRPr lang="en-US" sz="1200" dirty="0"/>
          </a:p>
        </p:txBody>
      </p:sp>
      <p:sp>
        <p:nvSpPr>
          <p:cNvPr id="12" name="Text 9"/>
          <p:cNvSpPr/>
          <p:nvPr/>
        </p:nvSpPr>
        <p:spPr>
          <a:xfrm>
            <a:off x="8573095" y="1085354"/>
            <a:ext cx="829072" cy="340320"/>
          </a:xfrm>
          <a:prstGeom prst="roundRect">
            <a:avLst>
              <a:gd name="adj" fmla="val 14927"/>
            </a:avLst>
          </a:prstGeom>
          <a:solidFill>
            <a:srgbClr val="12161F"/>
          </a:solidFill>
          <a:ln/>
        </p:spPr>
        <p:txBody>
          <a:bodyPr wrap="none" lIns="0" tIns="0" rIns="0" bIns="0" rtlCol="0" anchor="ctr">
            <a:normAutofit/>
          </a:bodyPr>
          <a:lstStyle/>
          <a:p>
            <a:pPr marL="0" indent="0" algn="ctr">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Logística</a:t>
            </a:r>
            <a:endParaRPr lang="en-US" sz="1200" dirty="0"/>
          </a:p>
        </p:txBody>
      </p:sp>
      <p:sp>
        <p:nvSpPr>
          <p:cNvPr id="13" name="Text 10"/>
          <p:cNvSpPr/>
          <p:nvPr/>
        </p:nvSpPr>
        <p:spPr>
          <a:xfrm>
            <a:off x="9452967" y="1148854"/>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IBM Plex Sans" pitchFamily="34" charset="0"/>
                <a:ea typeface="IBM Plex Sans" pitchFamily="34" charset="-122"/>
                <a:cs typeface="IBM Plex Sans" pitchFamily="34" charset="-120"/>
              </a:rPr>
              <a:t>→</a:t>
            </a:r>
            <a:endParaRPr lang="en-US" sz="1200" dirty="0"/>
          </a:p>
        </p:txBody>
      </p:sp>
      <p:sp>
        <p:nvSpPr>
          <p:cNvPr id="14" name="Text 11"/>
          <p:cNvSpPr/>
          <p:nvPr/>
        </p:nvSpPr>
        <p:spPr>
          <a:xfrm>
            <a:off x="9656167" y="1085354"/>
            <a:ext cx="833140" cy="340320"/>
          </a:xfrm>
          <a:prstGeom prst="roundRect">
            <a:avLst>
              <a:gd name="adj" fmla="val 14927"/>
            </a:avLst>
          </a:prstGeom>
          <a:solidFill>
            <a:srgbClr val="12161F"/>
          </a:solidFill>
          <a:ln/>
        </p:spPr>
        <p:txBody>
          <a:bodyPr wrap="none" lIns="0" tIns="0" rIns="0" bIns="0" rtlCol="0" anchor="ctr">
            <a:normAutofit/>
          </a:bodyPr>
          <a:lstStyle/>
          <a:p>
            <a:pPr marL="0" indent="0" algn="ctr">
              <a:lnSpc>
                <a:spcPts val="1680"/>
              </a:lnSpc>
              <a:buNone/>
            </a:pPr>
            <a:r>
              <a:rPr lang="en-US" sz="1200" b="1" dirty="0">
                <a:solidFill>
                  <a:srgbClr val="F4F1EA"/>
                </a:solidFill>
                <a:latin typeface="IBM Plex Sans" pitchFamily="34" charset="0"/>
                <a:ea typeface="IBM Plex Sans" pitchFamily="34" charset="-122"/>
                <a:cs typeface="IBM Plex Sans" pitchFamily="34" charset="-120"/>
              </a:rPr>
              <a:t>Compras</a:t>
            </a:r>
            <a:endParaRPr lang="en-US" sz="1200" dirty="0"/>
          </a:p>
        </p:txBody>
      </p:sp>
      <p:sp>
        <p:nvSpPr>
          <p:cNvPr id="15" name="Text 12"/>
          <p:cNvSpPr/>
          <p:nvPr/>
        </p:nvSpPr>
        <p:spPr>
          <a:xfrm>
            <a:off x="10540107" y="1148854"/>
            <a:ext cx="203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IBM Plex Sans" pitchFamily="34" charset="0"/>
                <a:ea typeface="IBM Plex Sans" pitchFamily="34" charset="-122"/>
                <a:cs typeface="IBM Plex Sans" pitchFamily="34" charset="-120"/>
              </a:rPr>
              <a:t>→</a:t>
            </a:r>
            <a:endParaRPr lang="en-US" sz="1200" dirty="0"/>
          </a:p>
        </p:txBody>
      </p:sp>
      <p:sp>
        <p:nvSpPr>
          <p:cNvPr id="16" name="Text 13"/>
          <p:cNvSpPr/>
          <p:nvPr/>
        </p:nvSpPr>
        <p:spPr>
          <a:xfrm>
            <a:off x="10743307" y="1085354"/>
            <a:ext cx="571500" cy="340320"/>
          </a:xfrm>
          <a:prstGeom prst="roundRect">
            <a:avLst>
              <a:gd name="adj" fmla="val 14927"/>
            </a:avLst>
          </a:prstGeom>
          <a:solidFill>
            <a:srgbClr val="2F5DB8"/>
          </a:solidFill>
          <a:ln/>
        </p:spPr>
        <p:txBody>
          <a:bodyPr wrap="square" lIns="61321" tIns="48621" rIns="61321" bIns="23221" rtlCol="0" anchor="t">
            <a:normAutofit/>
          </a:bodyPr>
          <a:lstStyle/>
          <a:p>
            <a:pPr marL="0" indent="0" algn="ctr">
              <a:lnSpc>
                <a:spcPts val="1680"/>
              </a:lnSpc>
              <a:buNone/>
            </a:pPr>
            <a:r>
              <a:rPr lang="en-US" sz="1200" b="1" dirty="0">
                <a:solidFill>
                  <a:srgbClr val="FFFDF8"/>
                </a:solidFill>
                <a:latin typeface="IBM Plex Sans" pitchFamily="34" charset="0"/>
                <a:ea typeface="IBM Plex Sans" pitchFamily="34" charset="-122"/>
                <a:cs typeface="IBM Plex Sans" pitchFamily="34" charset="-120"/>
              </a:rPr>
              <a:t>RH</a:t>
            </a:r>
            <a:endParaRPr lang="en-US" sz="1200" dirty="0"/>
          </a:p>
        </p:txBody>
      </p:sp>
      <p:sp>
        <p:nvSpPr>
          <p:cNvPr id="17" name="Text 14"/>
          <p:cNvSpPr/>
          <p:nvPr/>
        </p:nvSpPr>
        <p:spPr>
          <a:xfrm>
            <a:off x="4089400" y="1533624"/>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28 Anos - 9 Anos de Carreira Michelin</a:t>
            </a:r>
            <a:endParaRPr lang="en-US" sz="1600" dirty="0"/>
          </a:p>
        </p:txBody>
      </p:sp>
      <p:sp>
        <p:nvSpPr>
          <p:cNvPr id="18" name="Shape 15"/>
          <p:cNvSpPr/>
          <p:nvPr/>
        </p:nvSpPr>
        <p:spPr>
          <a:xfrm>
            <a:off x="4089400" y="1533624"/>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F2A541"/>
          </a:solidFill>
          <a:ln/>
        </p:spPr>
        <p:txBody>
          <a:bodyPr/>
          <a:lstStyle/>
          <a:p>
            <a:endParaRPr lang="pt-BR"/>
          </a:p>
        </p:txBody>
      </p:sp>
      <p:sp>
        <p:nvSpPr>
          <p:cNvPr id="19" name="Text 16"/>
          <p:cNvSpPr/>
          <p:nvPr/>
        </p:nvSpPr>
        <p:spPr>
          <a:xfrm>
            <a:off x="4089400" y="2261295"/>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Especialista Dados e IA para People Analytics</a:t>
            </a:r>
            <a:endParaRPr lang="en-US" sz="1600" dirty="0"/>
          </a:p>
        </p:txBody>
      </p:sp>
      <p:sp>
        <p:nvSpPr>
          <p:cNvPr id="20" name="Shape 17"/>
          <p:cNvSpPr/>
          <p:nvPr/>
        </p:nvSpPr>
        <p:spPr>
          <a:xfrm>
            <a:off x="4089400" y="2261295"/>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F2A541"/>
          </a:solidFill>
          <a:ln/>
        </p:spPr>
        <p:txBody>
          <a:bodyPr/>
          <a:lstStyle/>
          <a:p>
            <a:endParaRPr lang="pt-BR"/>
          </a:p>
        </p:txBody>
      </p:sp>
      <p:sp>
        <p:nvSpPr>
          <p:cNvPr id="21" name="Text 18"/>
          <p:cNvSpPr/>
          <p:nvPr/>
        </p:nvSpPr>
        <p:spPr>
          <a:xfrm>
            <a:off x="4089400" y="2988965"/>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Coordenação e Implementação do Time de People Analytics </a:t>
            </a:r>
            <a:endParaRPr lang="en-US" sz="1600" dirty="0"/>
          </a:p>
        </p:txBody>
      </p:sp>
      <p:sp>
        <p:nvSpPr>
          <p:cNvPr id="22" name="Shape 19"/>
          <p:cNvSpPr/>
          <p:nvPr/>
        </p:nvSpPr>
        <p:spPr>
          <a:xfrm>
            <a:off x="4089400" y="2988965"/>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F2A541"/>
          </a:solidFill>
          <a:ln/>
        </p:spPr>
        <p:txBody>
          <a:bodyPr/>
          <a:lstStyle/>
          <a:p>
            <a:endParaRPr lang="pt-BR"/>
          </a:p>
        </p:txBody>
      </p:sp>
      <p:sp>
        <p:nvSpPr>
          <p:cNvPr id="23" name="Text 20"/>
          <p:cNvSpPr/>
          <p:nvPr/>
        </p:nvSpPr>
        <p:spPr>
          <a:xfrm>
            <a:off x="4089400" y="3716635"/>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Jovem Aprendiz | Profissional do Ano | Talento Emergente</a:t>
            </a:r>
            <a:endParaRPr lang="en-US" sz="1600" dirty="0"/>
          </a:p>
        </p:txBody>
      </p:sp>
      <p:sp>
        <p:nvSpPr>
          <p:cNvPr id="24" name="Shape 21"/>
          <p:cNvSpPr/>
          <p:nvPr/>
        </p:nvSpPr>
        <p:spPr>
          <a:xfrm>
            <a:off x="4089400" y="3716635"/>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2F5DB8"/>
          </a:solidFill>
          <a:ln/>
        </p:spPr>
        <p:txBody>
          <a:bodyPr/>
          <a:lstStyle/>
          <a:p>
            <a:endParaRPr lang="pt-BR"/>
          </a:p>
        </p:txBody>
      </p:sp>
      <p:sp>
        <p:nvSpPr>
          <p:cNvPr id="25" name="Text 22"/>
          <p:cNvSpPr/>
          <p:nvPr/>
        </p:nvSpPr>
        <p:spPr>
          <a:xfrm>
            <a:off x="4089400" y="4444305"/>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Liderei a Digitalização na área de Compras Timezone Americas</a:t>
            </a:r>
            <a:endParaRPr lang="en-US" sz="1600" dirty="0"/>
          </a:p>
        </p:txBody>
      </p:sp>
      <p:sp>
        <p:nvSpPr>
          <p:cNvPr id="26" name="Shape 23"/>
          <p:cNvSpPr/>
          <p:nvPr/>
        </p:nvSpPr>
        <p:spPr>
          <a:xfrm>
            <a:off x="4089400" y="4444305"/>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2F5DB8"/>
          </a:solidFill>
          <a:ln/>
        </p:spPr>
        <p:txBody>
          <a:bodyPr/>
          <a:lstStyle/>
          <a:p>
            <a:endParaRPr lang="pt-BR"/>
          </a:p>
        </p:txBody>
      </p:sp>
      <p:sp>
        <p:nvSpPr>
          <p:cNvPr id="27" name="Text 24"/>
          <p:cNvSpPr/>
          <p:nvPr/>
        </p:nvSpPr>
        <p:spPr>
          <a:xfrm>
            <a:off x="4089400" y="5171976"/>
            <a:ext cx="7289800" cy="619720"/>
          </a:xfrm>
          <a:prstGeom prst="roundRect">
            <a:avLst>
              <a:gd name="adj" fmla="val 16395"/>
            </a:avLst>
          </a:prstGeom>
          <a:solidFill>
            <a:srgbClr val="FFFDF8"/>
          </a:solidFill>
          <a:ln/>
        </p:spPr>
        <p:txBody>
          <a:bodyPr wrap="square" lIns="236942" tIns="148042" rIns="0" bIns="122642" rtlCol="0" anchor="t">
            <a:normAutofit/>
          </a:bodyPr>
          <a:lstStyle/>
          <a:p>
            <a:pPr marL="0" indent="0" algn="l">
              <a:lnSpc>
                <a:spcPts val="2080"/>
              </a:lnSpc>
              <a:buNone/>
            </a:pPr>
            <a:r>
              <a:rPr lang="en-US" sz="1600" b="1" dirty="0">
                <a:solidFill>
                  <a:srgbClr val="1A1D24"/>
                </a:solidFill>
                <a:latin typeface="IBM Plex Sans" pitchFamily="34" charset="0"/>
                <a:ea typeface="IBM Plex Sans" pitchFamily="34" charset="-122"/>
                <a:cs typeface="IBM Plex Sans" pitchFamily="34" charset="-120"/>
              </a:rPr>
              <a:t>Consultor de Business Intelligence nas horas vagas</a:t>
            </a:r>
            <a:endParaRPr lang="en-US" sz="1600" dirty="0"/>
          </a:p>
        </p:txBody>
      </p:sp>
      <p:sp>
        <p:nvSpPr>
          <p:cNvPr id="28" name="Shape 25"/>
          <p:cNvSpPr/>
          <p:nvPr/>
        </p:nvSpPr>
        <p:spPr>
          <a:xfrm>
            <a:off x="4089400" y="5171976"/>
            <a:ext cx="7289800" cy="619720"/>
          </a:xfrm>
          <a:custGeom>
            <a:avLst/>
            <a:gdLst/>
            <a:ahLst/>
            <a:cxnLst/>
            <a:rect l="l" t="t" r="r" b="b"/>
            <a:pathLst>
              <a:path w="7289800" h="619720">
                <a:moveTo>
                  <a:pt x="101600" y="619720"/>
                </a:moveTo>
                <a:lnTo>
                  <a:pt x="101600" y="619720"/>
                </a:lnTo>
                <a:arcTo wR="101600" hR="101600" stAng="5400000" swAng="5400000"/>
                <a:lnTo>
                  <a:pt x="0" y="101600"/>
                </a:lnTo>
                <a:arcTo wR="101600" hR="101600" stAng="10800000" swAng="5400000"/>
                <a:lnTo>
                  <a:pt x="101600" y="0"/>
                </a:lnTo>
                <a:arcTo wR="63500" hR="101600" stAng="16200000" swAng="-5400000"/>
                <a:lnTo>
                  <a:pt x="38100" y="518120"/>
                </a:lnTo>
                <a:arcTo wR="63500" hR="101600" stAng="10800000" swAng="-5400000"/>
                <a:close/>
              </a:path>
            </a:pathLst>
          </a:custGeom>
          <a:solidFill>
            <a:srgbClr val="2F5DB8"/>
          </a:solidFill>
          <a:ln/>
        </p:spPr>
        <p:txBody>
          <a:bodyPr/>
          <a:lstStyle/>
          <a:p>
            <a:endParaRPr lang="pt-B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A65A00"/>
                </a:solidFill>
                <a:latin typeface="JetBrains Mono" pitchFamily="49" charset="0"/>
                <a:ea typeface="JetBrains Mono" pitchFamily="49" charset="-122"/>
                <a:cs typeface="JetBrains Mono" pitchFamily="49" charset="-120"/>
              </a:rPr>
              <a:t>O QUE É UM CACHE</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D24"/>
                </a:solidFill>
                <a:latin typeface="Space Grotesk" pitchFamily="34" charset="0"/>
                <a:ea typeface="Space Grotesk" pitchFamily="34" charset="-122"/>
                <a:cs typeface="Space Grotesk" pitchFamily="34" charset="-120"/>
              </a:rPr>
              <a:t>Guardar perto o que você vai usar de novo</a:t>
            </a:r>
            <a:endParaRPr lang="en-US" sz="3600" dirty="0"/>
          </a:p>
        </p:txBody>
      </p:sp>
      <p:sp>
        <p:nvSpPr>
          <p:cNvPr id="4" name="Shape 2"/>
          <p:cNvSpPr/>
          <p:nvPr/>
        </p:nvSpPr>
        <p:spPr>
          <a:xfrm>
            <a:off x="819150" y="2264271"/>
            <a:ext cx="5143500" cy="1943001"/>
          </a:xfrm>
          <a:prstGeom prst="roundRect">
            <a:avLst>
              <a:gd name="adj" fmla="val 6209"/>
            </a:avLst>
          </a:prstGeom>
          <a:solidFill>
            <a:srgbClr val="FFFDF8"/>
          </a:solidFill>
          <a:ln w="12700">
            <a:solidFill>
              <a:srgbClr val="F2A541"/>
            </a:solidFill>
            <a:prstDash val="solid"/>
          </a:ln>
        </p:spPr>
        <p:txBody>
          <a:bodyPr/>
          <a:lstStyle/>
          <a:p>
            <a:endParaRPr lang="pt-BR"/>
          </a:p>
        </p:txBody>
      </p:sp>
      <p:sp>
        <p:nvSpPr>
          <p:cNvPr id="5" name="Text 3"/>
          <p:cNvSpPr/>
          <p:nvPr/>
        </p:nvSpPr>
        <p:spPr>
          <a:xfrm>
            <a:off x="1130300" y="2575421"/>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65A00"/>
                </a:solidFill>
                <a:latin typeface="JetBrains Mono" pitchFamily="49" charset="0"/>
                <a:ea typeface="JetBrains Mono" pitchFamily="49" charset="-122"/>
                <a:cs typeface="JetBrains Mono" pitchFamily="49" charset="-120"/>
              </a:rPr>
              <a:t>CACHE</a:t>
            </a:r>
            <a:endParaRPr lang="en-US" sz="1200" dirty="0"/>
          </a:p>
        </p:txBody>
      </p:sp>
      <p:sp>
        <p:nvSpPr>
          <p:cNvPr id="6" name="Text 4"/>
          <p:cNvSpPr/>
          <p:nvPr/>
        </p:nvSpPr>
        <p:spPr>
          <a:xfrm>
            <a:off x="1130300" y="2890341"/>
            <a:ext cx="465683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A1D24"/>
                </a:solidFill>
                <a:latin typeface="Space Grotesk" pitchFamily="34" charset="0"/>
                <a:ea typeface="Space Grotesk" pitchFamily="34" charset="-122"/>
                <a:cs typeface="Space Grotesk" pitchFamily="34" charset="-120"/>
              </a:rPr>
              <a:t>A mesa de trabalho</a:t>
            </a:r>
            <a:endParaRPr lang="en-US" sz="2200" dirty="0"/>
          </a:p>
        </p:txBody>
      </p:sp>
      <p:sp>
        <p:nvSpPr>
          <p:cNvPr id="7" name="Text 5"/>
          <p:cNvSpPr/>
          <p:nvPr/>
        </p:nvSpPr>
        <p:spPr>
          <a:xfrm>
            <a:off x="1130300" y="3327202"/>
            <a:ext cx="465683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060"/>
                </a:solidFill>
                <a:latin typeface="IBM Plex Sans" pitchFamily="34" charset="0"/>
                <a:ea typeface="IBM Plex Sans" pitchFamily="34" charset="-122"/>
                <a:cs typeface="IBM Plex Sans" pitchFamily="34" charset="-120"/>
              </a:rPr>
              <a:t>Cabem poucos papéis, mas você pega qualquer um na hora.</a:t>
            </a:r>
            <a:endParaRPr lang="en-US" sz="1600" dirty="0"/>
          </a:p>
        </p:txBody>
      </p:sp>
      <p:sp>
        <p:nvSpPr>
          <p:cNvPr id="8" name="Shape 6"/>
          <p:cNvSpPr/>
          <p:nvPr/>
        </p:nvSpPr>
        <p:spPr>
          <a:xfrm>
            <a:off x="6229350" y="2264271"/>
            <a:ext cx="5143500" cy="1943001"/>
          </a:xfrm>
          <a:prstGeom prst="roundRect">
            <a:avLst>
              <a:gd name="adj" fmla="val 6209"/>
            </a:avLst>
          </a:prstGeom>
          <a:solidFill>
            <a:srgbClr val="FFFDF8"/>
          </a:solidFill>
          <a:ln w="12700">
            <a:solidFill>
              <a:srgbClr val="C9CFDA"/>
            </a:solidFill>
            <a:prstDash val="solid"/>
          </a:ln>
        </p:spPr>
        <p:txBody>
          <a:bodyPr/>
          <a:lstStyle/>
          <a:p>
            <a:endParaRPr lang="pt-BR"/>
          </a:p>
        </p:txBody>
      </p:sp>
      <p:sp>
        <p:nvSpPr>
          <p:cNvPr id="9" name="Text 7"/>
          <p:cNvSpPr/>
          <p:nvPr/>
        </p:nvSpPr>
        <p:spPr>
          <a:xfrm>
            <a:off x="6540500" y="2575421"/>
            <a:ext cx="4656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5DB8"/>
                </a:solidFill>
                <a:latin typeface="JetBrains Mono" pitchFamily="49" charset="0"/>
                <a:ea typeface="JetBrains Mono" pitchFamily="49" charset="-122"/>
                <a:cs typeface="JetBrains Mono" pitchFamily="49" charset="-120"/>
              </a:rPr>
              <a:t>MEMÓRIA / DISCO</a:t>
            </a:r>
            <a:endParaRPr lang="en-US" sz="1200" dirty="0"/>
          </a:p>
        </p:txBody>
      </p:sp>
      <p:sp>
        <p:nvSpPr>
          <p:cNvPr id="10" name="Text 8"/>
          <p:cNvSpPr/>
          <p:nvPr/>
        </p:nvSpPr>
        <p:spPr>
          <a:xfrm>
            <a:off x="6540500" y="2890341"/>
            <a:ext cx="465683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A1D24"/>
                </a:solidFill>
                <a:latin typeface="Space Grotesk" pitchFamily="34" charset="0"/>
                <a:ea typeface="Space Grotesk" pitchFamily="34" charset="-122"/>
                <a:cs typeface="Space Grotesk" pitchFamily="34" charset="-120"/>
              </a:rPr>
              <a:t>O arquivo no subsolo</a:t>
            </a:r>
            <a:endParaRPr lang="en-US" sz="2200" dirty="0"/>
          </a:p>
        </p:txBody>
      </p:sp>
      <p:sp>
        <p:nvSpPr>
          <p:cNvPr id="11" name="Text 9"/>
          <p:cNvSpPr/>
          <p:nvPr/>
        </p:nvSpPr>
        <p:spPr>
          <a:xfrm>
            <a:off x="6540500" y="3327202"/>
            <a:ext cx="465683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060"/>
                </a:solidFill>
                <a:latin typeface="IBM Plex Sans" pitchFamily="34" charset="0"/>
                <a:ea typeface="IBM Plex Sans" pitchFamily="34" charset="-122"/>
                <a:cs typeface="IBM Plex Sans" pitchFamily="34" charset="-120"/>
              </a:rPr>
              <a:t>Cabe tudo, mas cada busca custa uma viagem.</a:t>
            </a:r>
            <a:endParaRPr lang="en-US" sz="1600" dirty="0"/>
          </a:p>
        </p:txBody>
      </p:sp>
      <p:sp>
        <p:nvSpPr>
          <p:cNvPr id="12" name="Text 10"/>
          <p:cNvSpPr/>
          <p:nvPr/>
        </p:nvSpPr>
        <p:spPr>
          <a:xfrm>
            <a:off x="812800" y="4569222"/>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A1D24"/>
                </a:solidFill>
                <a:latin typeface="Space Grotesk" pitchFamily="34" charset="0"/>
                <a:ea typeface="Space Grotesk" pitchFamily="34" charset="-122"/>
                <a:cs typeface="Space Grotesk" pitchFamily="34" charset="-120"/>
              </a:rPr>
              <a:t>A mesa enche. </a:t>
            </a:r>
            <a:r>
              <a:rPr lang="en-US" sz="2200" b="1" dirty="0">
                <a:solidFill>
                  <a:srgbClr val="A65A00"/>
                </a:solidFill>
                <a:latin typeface="Space Grotesk" pitchFamily="34" charset="0"/>
                <a:ea typeface="Space Grotesk" pitchFamily="34" charset="-122"/>
                <a:cs typeface="Space Grotesk" pitchFamily="34" charset="-120"/>
              </a:rPr>
              <a:t>Alguém precisa sair.</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POLÍTICA DE DESPEJO</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Quem sai quando o cache enche?</a:t>
            </a:r>
            <a:endParaRPr lang="en-US" sz="3600" dirty="0"/>
          </a:p>
        </p:txBody>
      </p:sp>
      <p:sp>
        <p:nvSpPr>
          <p:cNvPr id="4" name="Shape 2"/>
          <p:cNvSpPr/>
          <p:nvPr/>
        </p:nvSpPr>
        <p:spPr>
          <a:xfrm>
            <a:off x="812800" y="2257921"/>
            <a:ext cx="5384800" cy="2059880"/>
          </a:xfrm>
          <a:prstGeom prst="roundRect">
            <a:avLst>
              <a:gd name="adj" fmla="val 6165"/>
            </a:avLst>
          </a:prstGeom>
          <a:solidFill>
            <a:srgbClr val="1C2230"/>
          </a:solidFill>
          <a:ln/>
        </p:spPr>
        <p:txBody>
          <a:bodyPr/>
          <a:lstStyle/>
          <a:p>
            <a:endParaRPr lang="pt-BR"/>
          </a:p>
        </p:txBody>
      </p:sp>
      <p:sp>
        <p:nvSpPr>
          <p:cNvPr id="5" name="Text 3"/>
          <p:cNvSpPr/>
          <p:nvPr/>
        </p:nvSpPr>
        <p:spPr>
          <a:xfrm>
            <a:off x="1117600" y="2562721"/>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JetBrains Mono" pitchFamily="49" charset="0"/>
                <a:ea typeface="JetBrains Mono" pitchFamily="49" charset="-122"/>
                <a:cs typeface="JetBrains Mono" pitchFamily="49" charset="-120"/>
              </a:rPr>
              <a:t>O ÓTIMO TEÓRICO · BELÁDY, IBM, 1966</a:t>
            </a:r>
            <a:endParaRPr lang="en-US" sz="1200" dirty="0"/>
          </a:p>
        </p:txBody>
      </p:sp>
      <p:sp>
        <p:nvSpPr>
          <p:cNvPr id="6" name="Text 4"/>
          <p:cNvSpPr/>
          <p:nvPr/>
        </p:nvSpPr>
        <p:spPr>
          <a:xfrm>
            <a:off x="1117600" y="2903041"/>
            <a:ext cx="4918456" cy="723900"/>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4F1EA"/>
                </a:solidFill>
                <a:latin typeface="Space Grotesk" pitchFamily="34" charset="0"/>
                <a:ea typeface="Space Grotesk" pitchFamily="34" charset="-122"/>
                <a:cs typeface="Space Grotesk" pitchFamily="34" charset="-120"/>
              </a:rPr>
              <a:t>Descartar o item que será usado </a:t>
            </a:r>
            <a:r>
              <a:rPr lang="en-US" sz="2200" dirty="0">
                <a:solidFill>
                  <a:srgbClr val="F2A541"/>
                </a:solidFill>
                <a:latin typeface="Space Grotesk" pitchFamily="34" charset="0"/>
                <a:ea typeface="Space Grotesk" pitchFamily="34" charset="-122"/>
                <a:cs typeface="Space Grotesk" pitchFamily="34" charset="-120"/>
              </a:rPr>
              <a:t>mais longe no futuro</a:t>
            </a:r>
            <a:r>
              <a:rPr lang="en-US" sz="2200" dirty="0">
                <a:solidFill>
                  <a:srgbClr val="F4F1EA"/>
                </a:solidFill>
                <a:latin typeface="Space Grotesk" pitchFamily="34" charset="0"/>
                <a:ea typeface="Space Grotesk" pitchFamily="34" charset="-122"/>
                <a:cs typeface="Space Grotesk" pitchFamily="34" charset="-120"/>
              </a:rPr>
              <a:t>.</a:t>
            </a:r>
            <a:endParaRPr lang="en-US" sz="2200" dirty="0"/>
          </a:p>
        </p:txBody>
      </p:sp>
      <p:sp>
        <p:nvSpPr>
          <p:cNvPr id="7" name="Text 5"/>
          <p:cNvSpPr/>
          <p:nvPr/>
        </p:nvSpPr>
        <p:spPr>
          <a:xfrm>
            <a:off x="1117600" y="3728541"/>
            <a:ext cx="50800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IBM Plex Sans" pitchFamily="34" charset="0"/>
                <a:ea typeface="IBM Plex Sans" pitchFamily="34" charset="-122"/>
                <a:cs typeface="IBM Plex Sans" pitchFamily="34" charset="-120"/>
              </a:rPr>
              <a:t>Algoritmo MIN. Perfeito — mas exige prever o futuro.</a:t>
            </a:r>
            <a:endParaRPr lang="en-US" sz="1600" dirty="0"/>
          </a:p>
        </p:txBody>
      </p:sp>
      <p:sp>
        <p:nvSpPr>
          <p:cNvPr id="8" name="Text 6"/>
          <p:cNvSpPr/>
          <p:nvPr/>
        </p:nvSpPr>
        <p:spPr>
          <a:xfrm>
            <a:off x="6604000" y="2257921"/>
            <a:ext cx="49184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JetBrains Mono" pitchFamily="49" charset="0"/>
                <a:ea typeface="JetBrains Mono" pitchFamily="49" charset="-122"/>
                <a:cs typeface="JetBrains Mono" pitchFamily="49" charset="-120"/>
              </a:rPr>
              <a:t>NA PRÁTICA, APROXIMAÇÕES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16700" y="2610941"/>
          <a:ext cx="4762500" cy="1651000"/>
        </p:xfrm>
        <a:graphic>
          <a:graphicData uri="http://schemas.openxmlformats.org/drawingml/2006/table">
            <a:tbl>
              <a:tblPr/>
              <a:tblGrid>
                <a:gridCol w="14287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dirty="0">
                          <a:solidFill>
                            <a:srgbClr val="F2A541"/>
                          </a:solidFill>
                          <a:latin typeface="IBM Plex Sans" pitchFamily="34" charset="0"/>
                          <a:ea typeface="IBM Plex Sans" pitchFamily="34" charset="-122"/>
                          <a:cs typeface="IBM Plex Sans" pitchFamily="34" charset="-120"/>
                        </a:rPr>
                        <a:t>LRU</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marL="0" indent="0">
                        <a:lnSpc>
                          <a:spcPts val="2100"/>
                        </a:lnSpc>
                        <a:buNone/>
                      </a:pPr>
                      <a:r>
                        <a:rPr lang="en-US" sz="1500" dirty="0">
                          <a:solidFill>
                            <a:srgbClr val="E8E4DA"/>
                          </a:solidFill>
                          <a:latin typeface="IBM Plex Sans" pitchFamily="34" charset="0"/>
                          <a:ea typeface="IBM Plex Sans" pitchFamily="34" charset="-122"/>
                          <a:cs typeface="IBM Plex Sans" pitchFamily="34" charset="-120"/>
                        </a:rPr>
                        <a:t>Sai o usado há mais tempo</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6E9BF5"/>
                          </a:solidFill>
                          <a:latin typeface="IBM Plex Sans" pitchFamily="34" charset="0"/>
                          <a:ea typeface="IBM Plex Sans" pitchFamily="34" charset="-122"/>
                          <a:cs typeface="IBM Plex Sans" pitchFamily="34" charset="-120"/>
                        </a:rPr>
                        <a:t>LFU</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marL="0" indent="0">
                        <a:lnSpc>
                          <a:spcPts val="2100"/>
                        </a:lnSpc>
                        <a:buNone/>
                      </a:pPr>
                      <a:r>
                        <a:rPr lang="en-US" sz="1500" dirty="0">
                          <a:solidFill>
                            <a:srgbClr val="E8E4DA"/>
                          </a:solidFill>
                          <a:latin typeface="IBM Plex Sans" pitchFamily="34" charset="0"/>
                          <a:ea typeface="IBM Plex Sans" pitchFamily="34" charset="-122"/>
                          <a:cs typeface="IBM Plex Sans" pitchFamily="34" charset="-120"/>
                        </a:rPr>
                        <a:t>Sai o usado menos vezes</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6E9BF5"/>
                          </a:solidFill>
                          <a:latin typeface="IBM Plex Sans" pitchFamily="34" charset="0"/>
                          <a:ea typeface="IBM Plex Sans" pitchFamily="34" charset="-122"/>
                          <a:cs typeface="IBM Plex Sans" pitchFamily="34" charset="-120"/>
                        </a:rPr>
                        <a:t>Clock</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marL="0" indent="0">
                        <a:lnSpc>
                          <a:spcPts val="2100"/>
                        </a:lnSpc>
                        <a:buNone/>
                      </a:pPr>
                      <a:r>
                        <a:rPr lang="en-US" sz="1500" dirty="0">
                          <a:solidFill>
                            <a:srgbClr val="E8E4DA"/>
                          </a:solidFill>
                          <a:latin typeface="IBM Plex Sans" pitchFamily="34" charset="0"/>
                          <a:ea typeface="IBM Plex Sans" pitchFamily="34" charset="-122"/>
                          <a:cs typeface="IBM Plex Sans" pitchFamily="34" charset="-120"/>
                        </a:rPr>
                        <a:t>Multics/Unix, memória virtual</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6E9BF5"/>
                          </a:solidFill>
                          <a:latin typeface="IBM Plex Sans" pitchFamily="34" charset="0"/>
                          <a:ea typeface="IBM Plex Sans" pitchFamily="34" charset="-122"/>
                          <a:cs typeface="IBM Plex Sans" pitchFamily="34" charset="-120"/>
                        </a:rPr>
                        <a:t>ARC</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tc>
                  <a:txBody>
                    <a:bodyPr/>
                    <a:lstStyle/>
                    <a:p>
                      <a:pPr marL="0" indent="0">
                        <a:lnSpc>
                          <a:spcPts val="2100"/>
                        </a:lnSpc>
                        <a:buNone/>
                      </a:pPr>
                      <a:r>
                        <a:rPr lang="en-US" sz="1500" dirty="0">
                          <a:solidFill>
                            <a:srgbClr val="E8E4DA"/>
                          </a:solidFill>
                          <a:latin typeface="IBM Plex Sans" pitchFamily="34" charset="0"/>
                          <a:ea typeface="IBM Plex Sans" pitchFamily="34" charset="-122"/>
                          <a:cs typeface="IBM Plex Sans" pitchFamily="34" charset="-120"/>
                        </a:rPr>
                        <a:t>Usado no ZFS</a:t>
                      </a:r>
                      <a:endParaRPr lang="en-US" sz="1500" dirty="0">
                        <a:latin typeface="IBM Plex Sans" charset="0"/>
                        <a:ea typeface="IBM Plex Sans" charset="0"/>
                        <a:cs typeface="IBM Plex Sans" charset="0"/>
                      </a:endParaRPr>
                    </a:p>
                  </a:txBody>
                  <a:tcPr marL="66675" marR="66675" marT="66675" marB="66675">
                    <a:lnL w="12700" cap="flat" cmpd="sng" algn="ctr">
                      <a:solidFill>
                        <a:srgbClr val="45484E"/>
                      </a:solidFill>
                      <a:prstDash val="solid"/>
                      <a:round/>
                      <a:headEnd type="none" w="med" len="med"/>
                      <a:tailEnd type="none" w="med" len="med"/>
                    </a:lnL>
                    <a:lnR w="12700" cap="flat" cmpd="sng" algn="ctr">
                      <a:solidFill>
                        <a:srgbClr val="45484E"/>
                      </a:solidFill>
                      <a:prstDash val="solid"/>
                      <a:round/>
                      <a:headEnd type="none" w="med" len="med"/>
                      <a:tailEnd type="none" w="med" len="med"/>
                    </a:lnR>
                    <a:lnT w="12700" cap="flat" cmpd="sng" algn="ctr">
                      <a:solidFill>
                        <a:srgbClr val="45484E"/>
                      </a:solidFill>
                      <a:prstDash val="solid"/>
                      <a:round/>
                      <a:headEnd type="none" w="med" len="med"/>
                      <a:tailEnd type="none" w="med" len="med"/>
                    </a:lnT>
                    <a:lnB w="12700" cap="flat" cmpd="sng" algn="ctr">
                      <a:solidFill>
                        <a:srgbClr val="45484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A65A00"/>
                </a:solidFill>
                <a:latin typeface="JetBrains Mono" pitchFamily="49" charset="0"/>
                <a:ea typeface="JetBrains Mono" pitchFamily="49" charset="-122"/>
                <a:cs typeface="JetBrains Mono" pitchFamily="49" charset="-120"/>
              </a:rPr>
              <a:t>LEAST RECENTLY USED</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D24"/>
                </a:solidFill>
                <a:latin typeface="Space Grotesk" pitchFamily="34" charset="0"/>
                <a:ea typeface="Space Grotesk" pitchFamily="34" charset="-122"/>
                <a:cs typeface="Space Grotesk" pitchFamily="34" charset="-120"/>
              </a:rPr>
              <a:t>LRU em ação: capacidade 3</a:t>
            </a:r>
            <a:endParaRPr lang="en-US" sz="3600" dirty="0"/>
          </a:p>
        </p:txBody>
      </p:sp>
      <p:sp>
        <p:nvSpPr>
          <p:cNvPr id="4" name="Text 2"/>
          <p:cNvSpPr/>
          <p:nvPr/>
        </p:nvSpPr>
        <p:spPr>
          <a:xfrm>
            <a:off x="812800" y="2130921"/>
            <a:ext cx="19621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put A</a:t>
            </a:r>
            <a:endParaRPr lang="en-US" sz="1500" dirty="0"/>
          </a:p>
        </p:txBody>
      </p:sp>
      <p:sp>
        <p:nvSpPr>
          <p:cNvPr id="5" name="Text 3"/>
          <p:cNvSpPr/>
          <p:nvPr/>
        </p:nvSpPr>
        <p:spPr>
          <a:xfrm>
            <a:off x="2819400" y="2054721"/>
            <a:ext cx="469900" cy="419100"/>
          </a:xfrm>
          <a:prstGeom prst="roundRect">
            <a:avLst>
              <a:gd name="adj" fmla="val 15152"/>
            </a:avLst>
          </a:prstGeom>
          <a:solidFill>
            <a:srgbClr val="F2A541"/>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A</a:t>
            </a:r>
            <a:endParaRPr lang="en-US" sz="1500" dirty="0"/>
          </a:p>
        </p:txBody>
      </p:sp>
      <p:sp>
        <p:nvSpPr>
          <p:cNvPr id="6" name="Text 4"/>
          <p:cNvSpPr/>
          <p:nvPr/>
        </p:nvSpPr>
        <p:spPr>
          <a:xfrm>
            <a:off x="812800" y="2664321"/>
            <a:ext cx="19621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put B</a:t>
            </a:r>
            <a:endParaRPr lang="en-US" sz="1500" dirty="0"/>
          </a:p>
        </p:txBody>
      </p:sp>
      <p:sp>
        <p:nvSpPr>
          <p:cNvPr id="7" name="Text 5"/>
          <p:cNvSpPr/>
          <p:nvPr/>
        </p:nvSpPr>
        <p:spPr>
          <a:xfrm>
            <a:off x="2819400" y="2588121"/>
            <a:ext cx="469900" cy="419100"/>
          </a:xfrm>
          <a:prstGeom prst="roundRect">
            <a:avLst>
              <a:gd name="adj" fmla="val 15152"/>
            </a:avLst>
          </a:prstGeom>
          <a:solidFill>
            <a:srgbClr val="F2A541"/>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B</a:t>
            </a:r>
            <a:endParaRPr lang="en-US" sz="1500" dirty="0"/>
          </a:p>
        </p:txBody>
      </p:sp>
      <p:sp>
        <p:nvSpPr>
          <p:cNvPr id="8" name="Text 6"/>
          <p:cNvSpPr/>
          <p:nvPr/>
        </p:nvSpPr>
        <p:spPr>
          <a:xfrm>
            <a:off x="3390900" y="25881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A</a:t>
            </a:r>
            <a:endParaRPr lang="en-US" sz="1500" dirty="0"/>
          </a:p>
        </p:txBody>
      </p:sp>
      <p:sp>
        <p:nvSpPr>
          <p:cNvPr id="9" name="Text 7"/>
          <p:cNvSpPr/>
          <p:nvPr/>
        </p:nvSpPr>
        <p:spPr>
          <a:xfrm>
            <a:off x="812800" y="3197721"/>
            <a:ext cx="19621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put C</a:t>
            </a:r>
            <a:endParaRPr lang="en-US" sz="1500" dirty="0"/>
          </a:p>
        </p:txBody>
      </p:sp>
      <p:sp>
        <p:nvSpPr>
          <p:cNvPr id="10" name="Text 8"/>
          <p:cNvSpPr/>
          <p:nvPr/>
        </p:nvSpPr>
        <p:spPr>
          <a:xfrm>
            <a:off x="2819400" y="3121521"/>
            <a:ext cx="469900" cy="419100"/>
          </a:xfrm>
          <a:prstGeom prst="roundRect">
            <a:avLst>
              <a:gd name="adj" fmla="val 15152"/>
            </a:avLst>
          </a:prstGeom>
          <a:solidFill>
            <a:srgbClr val="F2A541"/>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C</a:t>
            </a:r>
            <a:endParaRPr lang="en-US" sz="1500" dirty="0"/>
          </a:p>
        </p:txBody>
      </p:sp>
      <p:sp>
        <p:nvSpPr>
          <p:cNvPr id="11" name="Text 9"/>
          <p:cNvSpPr/>
          <p:nvPr/>
        </p:nvSpPr>
        <p:spPr>
          <a:xfrm>
            <a:off x="3390900" y="31215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B</a:t>
            </a:r>
            <a:endParaRPr lang="en-US" sz="1500" dirty="0"/>
          </a:p>
        </p:txBody>
      </p:sp>
      <p:sp>
        <p:nvSpPr>
          <p:cNvPr id="12" name="Text 10"/>
          <p:cNvSpPr/>
          <p:nvPr/>
        </p:nvSpPr>
        <p:spPr>
          <a:xfrm>
            <a:off x="3962400" y="31215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A</a:t>
            </a:r>
            <a:endParaRPr lang="en-US" sz="1500" dirty="0"/>
          </a:p>
        </p:txBody>
      </p:sp>
      <p:sp>
        <p:nvSpPr>
          <p:cNvPr id="13" name="Text 11"/>
          <p:cNvSpPr/>
          <p:nvPr/>
        </p:nvSpPr>
        <p:spPr>
          <a:xfrm>
            <a:off x="812800" y="3731121"/>
            <a:ext cx="19621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get A</a:t>
            </a:r>
            <a:endParaRPr lang="en-US" sz="1500" dirty="0"/>
          </a:p>
        </p:txBody>
      </p:sp>
      <p:sp>
        <p:nvSpPr>
          <p:cNvPr id="14" name="Text 12"/>
          <p:cNvSpPr/>
          <p:nvPr/>
        </p:nvSpPr>
        <p:spPr>
          <a:xfrm>
            <a:off x="2819400" y="3654921"/>
            <a:ext cx="469900" cy="419100"/>
          </a:xfrm>
          <a:prstGeom prst="roundRect">
            <a:avLst>
              <a:gd name="adj" fmla="val 15152"/>
            </a:avLst>
          </a:prstGeom>
          <a:solidFill>
            <a:srgbClr val="F2A541"/>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A</a:t>
            </a:r>
            <a:endParaRPr lang="en-US" sz="1500" dirty="0"/>
          </a:p>
        </p:txBody>
      </p:sp>
      <p:sp>
        <p:nvSpPr>
          <p:cNvPr id="15" name="Text 13"/>
          <p:cNvSpPr/>
          <p:nvPr/>
        </p:nvSpPr>
        <p:spPr>
          <a:xfrm>
            <a:off x="3390900" y="36549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C</a:t>
            </a:r>
            <a:endParaRPr lang="en-US" sz="1500" dirty="0"/>
          </a:p>
        </p:txBody>
      </p:sp>
      <p:sp>
        <p:nvSpPr>
          <p:cNvPr id="16" name="Text 14"/>
          <p:cNvSpPr/>
          <p:nvPr/>
        </p:nvSpPr>
        <p:spPr>
          <a:xfrm>
            <a:off x="3962400" y="36549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B</a:t>
            </a:r>
            <a:endParaRPr lang="en-US" sz="1500" dirty="0"/>
          </a:p>
        </p:txBody>
      </p:sp>
      <p:sp>
        <p:nvSpPr>
          <p:cNvPr id="17" name="Text 15"/>
          <p:cNvSpPr/>
          <p:nvPr/>
        </p:nvSpPr>
        <p:spPr>
          <a:xfrm>
            <a:off x="4635500" y="3748881"/>
            <a:ext cx="24963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060"/>
                </a:solidFill>
                <a:latin typeface="JetBrains Mono" pitchFamily="49" charset="0"/>
                <a:ea typeface="JetBrains Mono" pitchFamily="49" charset="-122"/>
                <a:cs typeface="JetBrains Mono" pitchFamily="49" charset="-120"/>
              </a:rPr>
              <a:t>A volta para a frente</a:t>
            </a:r>
            <a:endParaRPr lang="en-US" sz="1300" dirty="0"/>
          </a:p>
        </p:txBody>
      </p:sp>
      <p:sp>
        <p:nvSpPr>
          <p:cNvPr id="18" name="Text 16"/>
          <p:cNvSpPr/>
          <p:nvPr/>
        </p:nvSpPr>
        <p:spPr>
          <a:xfrm>
            <a:off x="812800" y="4264521"/>
            <a:ext cx="19621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put D</a:t>
            </a:r>
            <a:endParaRPr lang="en-US" sz="1500" dirty="0"/>
          </a:p>
        </p:txBody>
      </p:sp>
      <p:sp>
        <p:nvSpPr>
          <p:cNvPr id="19" name="Text 17"/>
          <p:cNvSpPr/>
          <p:nvPr/>
        </p:nvSpPr>
        <p:spPr>
          <a:xfrm>
            <a:off x="2819400" y="4188321"/>
            <a:ext cx="469900" cy="419100"/>
          </a:xfrm>
          <a:prstGeom prst="roundRect">
            <a:avLst>
              <a:gd name="adj" fmla="val 15152"/>
            </a:avLst>
          </a:prstGeom>
          <a:solidFill>
            <a:srgbClr val="F2A541"/>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D</a:t>
            </a:r>
            <a:endParaRPr lang="en-US" sz="1500" dirty="0"/>
          </a:p>
        </p:txBody>
      </p:sp>
      <p:sp>
        <p:nvSpPr>
          <p:cNvPr id="20" name="Text 18"/>
          <p:cNvSpPr/>
          <p:nvPr/>
        </p:nvSpPr>
        <p:spPr>
          <a:xfrm>
            <a:off x="3390900" y="41883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A</a:t>
            </a:r>
            <a:endParaRPr lang="en-US" sz="1500" dirty="0"/>
          </a:p>
        </p:txBody>
      </p:sp>
      <p:sp>
        <p:nvSpPr>
          <p:cNvPr id="21" name="Text 19"/>
          <p:cNvSpPr/>
          <p:nvPr/>
        </p:nvSpPr>
        <p:spPr>
          <a:xfrm>
            <a:off x="3962400" y="4188321"/>
            <a:ext cx="469900" cy="419100"/>
          </a:xfrm>
          <a:prstGeom prst="roundRect">
            <a:avLst>
              <a:gd name="adj" fmla="val 15152"/>
            </a:avLst>
          </a:prstGeom>
          <a:solidFill>
            <a:srgbClr val="E3DCCB"/>
          </a:solidFill>
          <a:ln/>
        </p:spPr>
        <p:txBody>
          <a:bodyPr wrap="none" lIns="0" tIns="0" rIns="0" bIns="0" rtlCol="0" anchor="ctr">
            <a:normAutofit/>
          </a:bodyPr>
          <a:lstStyle/>
          <a:p>
            <a:pPr marL="0" indent="0" algn="ctr">
              <a:lnSpc>
                <a:spcPts val="2100"/>
              </a:lnSpc>
              <a:buNone/>
            </a:pPr>
            <a:r>
              <a:rPr lang="en-US" sz="1500" dirty="0">
                <a:solidFill>
                  <a:srgbClr val="1A1D24"/>
                </a:solidFill>
                <a:latin typeface="JetBrains Mono" pitchFamily="49" charset="0"/>
                <a:ea typeface="JetBrains Mono" pitchFamily="49" charset="-122"/>
                <a:cs typeface="JetBrains Mono" pitchFamily="49" charset="-120"/>
              </a:rPr>
              <a:t>C</a:t>
            </a:r>
            <a:endParaRPr lang="en-US" sz="1500" dirty="0"/>
          </a:p>
        </p:txBody>
      </p:sp>
      <p:sp>
        <p:nvSpPr>
          <p:cNvPr id="22" name="Text 20"/>
          <p:cNvSpPr/>
          <p:nvPr/>
        </p:nvSpPr>
        <p:spPr>
          <a:xfrm>
            <a:off x="4540250" y="4194671"/>
            <a:ext cx="457200" cy="406400"/>
          </a:xfrm>
          <a:prstGeom prst="roundRect">
            <a:avLst>
              <a:gd name="adj" fmla="val 14063"/>
            </a:avLst>
          </a:prstGeom>
          <a:noFill/>
          <a:ln w="12700">
            <a:solidFill>
              <a:srgbClr val="2F5DB8"/>
            </a:solidFill>
            <a:prstDash val="dash"/>
          </a:ln>
        </p:spPr>
        <p:txBody>
          <a:bodyPr wrap="none" lIns="0" tIns="0" rIns="0" bIns="0" rtlCol="0" anchor="ctr">
            <a:normAutofit/>
          </a:bodyPr>
          <a:lstStyle/>
          <a:p>
            <a:pPr marL="0" indent="0" algn="ctr">
              <a:lnSpc>
                <a:spcPts val="2100"/>
              </a:lnSpc>
              <a:buNone/>
            </a:pPr>
            <a:r>
              <a:rPr lang="en-US" sz="1500" strike="sngStrike" dirty="0">
                <a:solidFill>
                  <a:srgbClr val="2F5DB8"/>
                </a:solidFill>
                <a:latin typeface="JetBrains Mono" pitchFamily="49" charset="0"/>
                <a:ea typeface="JetBrains Mono" pitchFamily="49" charset="-122"/>
                <a:cs typeface="JetBrains Mono" pitchFamily="49" charset="-120"/>
              </a:rPr>
              <a:t>B</a:t>
            </a:r>
            <a:endParaRPr lang="en-US" sz="1500" dirty="0"/>
          </a:p>
        </p:txBody>
      </p:sp>
      <p:sp>
        <p:nvSpPr>
          <p:cNvPr id="23" name="Text 21"/>
          <p:cNvSpPr/>
          <p:nvPr/>
        </p:nvSpPr>
        <p:spPr>
          <a:xfrm>
            <a:off x="5207000" y="4282281"/>
            <a:ext cx="309074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F5DB8"/>
                </a:solidFill>
                <a:latin typeface="JetBrains Mono" pitchFamily="49" charset="0"/>
                <a:ea typeface="JetBrains Mono" pitchFamily="49" charset="-122"/>
                <a:cs typeface="JetBrains Mono" pitchFamily="49" charset="-120"/>
              </a:rPr>
              <a:t>B sai: usado há mais tempo</a:t>
            </a:r>
            <a:endParaRPr lang="en-US" sz="1300" dirty="0"/>
          </a:p>
        </p:txBody>
      </p:sp>
      <p:sp>
        <p:nvSpPr>
          <p:cNvPr id="24" name="Text 22"/>
          <p:cNvSpPr/>
          <p:nvPr/>
        </p:nvSpPr>
        <p:spPr>
          <a:xfrm>
            <a:off x="812800" y="486142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060"/>
                </a:solidFill>
                <a:latin typeface="IBM Plex Sans" pitchFamily="34" charset="0"/>
                <a:ea typeface="IBM Plex Sans" pitchFamily="34" charset="-122"/>
                <a:cs typeface="IBM Plex Sans" pitchFamily="34" charset="-120"/>
              </a:rPr>
              <a:t>Leitura: da esquerda (mais recente) para a direita (próximo a sair).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INFRAESTRUTURA REAL</a:t>
            </a:r>
            <a:endParaRPr lang="en-US" sz="1300" dirty="0"/>
          </a:p>
        </p:txBody>
      </p:sp>
      <p:sp>
        <p:nvSpPr>
          <p:cNvPr id="3" name="Text 1"/>
          <p:cNvSpPr>
            <a:spLocks noGrp="1"/>
          </p:cNvSpPr>
          <p:nvPr>
            <p:ph type="title"/>
          </p:nvPr>
        </p:nvSpPr>
        <p:spPr>
          <a:xfrm>
            <a:off x="812800" y="13486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Onde o LRU roda hoje</a:t>
            </a:r>
            <a:endParaRPr lang="en-US" sz="3600" dirty="0"/>
          </a:p>
        </p:txBody>
      </p:sp>
      <p:sp>
        <p:nvSpPr>
          <p:cNvPr id="4" name="Shape 2"/>
          <p:cNvSpPr/>
          <p:nvPr/>
        </p:nvSpPr>
        <p:spPr>
          <a:xfrm>
            <a:off x="812800" y="2156321"/>
            <a:ext cx="5181600" cy="1186160"/>
          </a:xfrm>
          <a:prstGeom prst="roundRect">
            <a:avLst>
              <a:gd name="adj" fmla="val 10707"/>
            </a:avLst>
          </a:prstGeom>
          <a:solidFill>
            <a:srgbClr val="1C2230"/>
          </a:solidFill>
          <a:ln/>
        </p:spPr>
        <p:txBody>
          <a:bodyPr/>
          <a:lstStyle/>
          <a:p>
            <a:endParaRPr lang="pt-BR"/>
          </a:p>
        </p:txBody>
      </p:sp>
      <p:sp>
        <p:nvSpPr>
          <p:cNvPr id="5" name="Shape 3"/>
          <p:cNvSpPr/>
          <p:nvPr/>
        </p:nvSpPr>
        <p:spPr>
          <a:xfrm>
            <a:off x="812800" y="2156321"/>
            <a:ext cx="5181600" cy="1186160"/>
          </a:xfrm>
          <a:custGeom>
            <a:avLst/>
            <a:gdLst/>
            <a:ahLst/>
            <a:cxnLst/>
            <a:rect l="l" t="t" r="r" b="b"/>
            <a:pathLst>
              <a:path w="5181600" h="1186160">
                <a:moveTo>
                  <a:pt x="127000" y="1186160"/>
                </a:moveTo>
                <a:lnTo>
                  <a:pt x="127000" y="1186160"/>
                </a:lnTo>
                <a:arcTo wR="127000" hR="127000" stAng="5400000" swAng="5400000"/>
                <a:lnTo>
                  <a:pt x="0" y="127000"/>
                </a:lnTo>
                <a:arcTo wR="127000" hR="127000" stAng="10800000" swAng="5400000"/>
                <a:lnTo>
                  <a:pt x="127000" y="0"/>
                </a:lnTo>
                <a:arcTo wR="88900" hR="127000" stAng="16200000" swAng="-5400000"/>
                <a:lnTo>
                  <a:pt x="38100" y="1059160"/>
                </a:lnTo>
                <a:arcTo wR="88900" hR="127000" stAng="10800000" swAng="-5400000"/>
                <a:close/>
              </a:path>
            </a:pathLst>
          </a:custGeom>
          <a:solidFill>
            <a:srgbClr val="F2A541"/>
          </a:solidFill>
          <a:ln/>
        </p:spPr>
        <p:txBody>
          <a:bodyPr/>
          <a:lstStyle/>
          <a:p>
            <a:endParaRPr lang="pt-BR"/>
          </a:p>
        </p:txBody>
      </p:sp>
      <p:sp>
        <p:nvSpPr>
          <p:cNvPr id="6" name="Text 4"/>
          <p:cNvSpPr/>
          <p:nvPr/>
        </p:nvSpPr>
        <p:spPr>
          <a:xfrm>
            <a:off x="1104900" y="2410321"/>
            <a:ext cx="477456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1EA"/>
                </a:solidFill>
                <a:latin typeface="Space Grotesk" pitchFamily="34" charset="0"/>
                <a:ea typeface="Space Grotesk" pitchFamily="34" charset="-122"/>
                <a:cs typeface="Space Grotesk" pitchFamily="34" charset="-120"/>
              </a:rPr>
              <a:t>Redis</a:t>
            </a:r>
            <a:endParaRPr lang="en-US" sz="2200" dirty="0"/>
          </a:p>
        </p:txBody>
      </p:sp>
      <p:sp>
        <p:nvSpPr>
          <p:cNvPr id="7" name="Text 5"/>
          <p:cNvSpPr/>
          <p:nvPr/>
        </p:nvSpPr>
        <p:spPr>
          <a:xfrm>
            <a:off x="1104900" y="2821781"/>
            <a:ext cx="47745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C"/>
                </a:solidFill>
                <a:latin typeface="IBM Plex Sans" pitchFamily="34" charset="0"/>
                <a:ea typeface="IBM Plex Sans" pitchFamily="34" charset="-122"/>
                <a:cs typeface="IBM Plex Sans" pitchFamily="34" charset="-120"/>
              </a:rPr>
              <a:t>Política de despejo </a:t>
            </a:r>
            <a:r>
              <a:rPr lang="en-US" sz="1500" dirty="0">
                <a:solidFill>
                  <a:srgbClr val="F2A541"/>
                </a:solidFill>
                <a:latin typeface="IBM Plex Sans" pitchFamily="34" charset="0"/>
                <a:ea typeface="IBM Plex Sans" pitchFamily="34" charset="-122"/>
                <a:cs typeface="IBM Plex Sans" pitchFamily="34" charset="-120"/>
              </a:rPr>
              <a:t>allkeys-lru</a:t>
            </a:r>
            <a:endParaRPr lang="en-US" sz="1500" dirty="0"/>
          </a:p>
        </p:txBody>
      </p:sp>
      <p:sp>
        <p:nvSpPr>
          <p:cNvPr id="8" name="Shape 6"/>
          <p:cNvSpPr/>
          <p:nvPr/>
        </p:nvSpPr>
        <p:spPr>
          <a:xfrm>
            <a:off x="6197600" y="2156321"/>
            <a:ext cx="5181600" cy="1186160"/>
          </a:xfrm>
          <a:prstGeom prst="roundRect">
            <a:avLst>
              <a:gd name="adj" fmla="val 10707"/>
            </a:avLst>
          </a:prstGeom>
          <a:solidFill>
            <a:srgbClr val="1C2230"/>
          </a:solidFill>
          <a:ln/>
        </p:spPr>
        <p:txBody>
          <a:bodyPr/>
          <a:lstStyle/>
          <a:p>
            <a:endParaRPr lang="pt-BR"/>
          </a:p>
        </p:txBody>
      </p:sp>
      <p:sp>
        <p:nvSpPr>
          <p:cNvPr id="9" name="Shape 7"/>
          <p:cNvSpPr/>
          <p:nvPr/>
        </p:nvSpPr>
        <p:spPr>
          <a:xfrm>
            <a:off x="6197600" y="2156321"/>
            <a:ext cx="5181600" cy="1186160"/>
          </a:xfrm>
          <a:custGeom>
            <a:avLst/>
            <a:gdLst/>
            <a:ahLst/>
            <a:cxnLst/>
            <a:rect l="l" t="t" r="r" b="b"/>
            <a:pathLst>
              <a:path w="5181600" h="1186160">
                <a:moveTo>
                  <a:pt x="127000" y="1186160"/>
                </a:moveTo>
                <a:lnTo>
                  <a:pt x="127000" y="1186160"/>
                </a:lnTo>
                <a:arcTo wR="127000" hR="127000" stAng="5400000" swAng="5400000"/>
                <a:lnTo>
                  <a:pt x="0" y="127000"/>
                </a:lnTo>
                <a:arcTo wR="127000" hR="127000" stAng="10800000" swAng="5400000"/>
                <a:lnTo>
                  <a:pt x="127000" y="0"/>
                </a:lnTo>
                <a:arcTo wR="88900" hR="127000" stAng="16200000" swAng="-5400000"/>
                <a:lnTo>
                  <a:pt x="38100" y="1059160"/>
                </a:lnTo>
                <a:arcTo wR="88900" hR="127000" stAng="10800000" swAng="-5400000"/>
                <a:close/>
              </a:path>
            </a:pathLst>
          </a:custGeom>
          <a:solidFill>
            <a:srgbClr val="F2A541"/>
          </a:solidFill>
          <a:ln/>
        </p:spPr>
        <p:txBody>
          <a:bodyPr/>
          <a:lstStyle/>
          <a:p>
            <a:endParaRPr lang="pt-BR"/>
          </a:p>
        </p:txBody>
      </p:sp>
      <p:sp>
        <p:nvSpPr>
          <p:cNvPr id="10" name="Text 8"/>
          <p:cNvSpPr/>
          <p:nvPr/>
        </p:nvSpPr>
        <p:spPr>
          <a:xfrm>
            <a:off x="6489700" y="2410321"/>
            <a:ext cx="477456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1EA"/>
                </a:solidFill>
                <a:latin typeface="Space Grotesk" pitchFamily="34" charset="0"/>
                <a:ea typeface="Space Grotesk" pitchFamily="34" charset="-122"/>
                <a:cs typeface="Space Grotesk" pitchFamily="34" charset="-120"/>
              </a:rPr>
              <a:t>Kernel Linux</a:t>
            </a:r>
            <a:endParaRPr lang="en-US" sz="2200" dirty="0"/>
          </a:p>
        </p:txBody>
      </p:sp>
      <p:sp>
        <p:nvSpPr>
          <p:cNvPr id="11" name="Text 9"/>
          <p:cNvSpPr/>
          <p:nvPr/>
        </p:nvSpPr>
        <p:spPr>
          <a:xfrm>
            <a:off x="6489700" y="2821781"/>
            <a:ext cx="47745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C"/>
                </a:solidFill>
                <a:latin typeface="IBM Plex Sans" pitchFamily="34" charset="0"/>
                <a:ea typeface="IBM Plex Sans" pitchFamily="34" charset="-122"/>
                <a:cs typeface="IBM Plex Sans" pitchFamily="34" charset="-120"/>
              </a:rPr>
              <a:t>Cache de página e cache de buffer</a:t>
            </a:r>
            <a:endParaRPr lang="en-US" sz="1500" dirty="0"/>
          </a:p>
        </p:txBody>
      </p:sp>
      <p:sp>
        <p:nvSpPr>
          <p:cNvPr id="12" name="Shape 10"/>
          <p:cNvSpPr/>
          <p:nvPr/>
        </p:nvSpPr>
        <p:spPr>
          <a:xfrm>
            <a:off x="812800" y="3545681"/>
            <a:ext cx="5181600" cy="1186160"/>
          </a:xfrm>
          <a:prstGeom prst="roundRect">
            <a:avLst>
              <a:gd name="adj" fmla="val 10707"/>
            </a:avLst>
          </a:prstGeom>
          <a:solidFill>
            <a:srgbClr val="1C2230"/>
          </a:solidFill>
          <a:ln/>
        </p:spPr>
        <p:txBody>
          <a:bodyPr/>
          <a:lstStyle/>
          <a:p>
            <a:endParaRPr lang="pt-BR"/>
          </a:p>
        </p:txBody>
      </p:sp>
      <p:sp>
        <p:nvSpPr>
          <p:cNvPr id="13" name="Shape 11"/>
          <p:cNvSpPr/>
          <p:nvPr/>
        </p:nvSpPr>
        <p:spPr>
          <a:xfrm>
            <a:off x="812800" y="3545681"/>
            <a:ext cx="5181600" cy="1186160"/>
          </a:xfrm>
          <a:custGeom>
            <a:avLst/>
            <a:gdLst/>
            <a:ahLst/>
            <a:cxnLst/>
            <a:rect l="l" t="t" r="r" b="b"/>
            <a:pathLst>
              <a:path w="5181600" h="1186160">
                <a:moveTo>
                  <a:pt x="127000" y="1186160"/>
                </a:moveTo>
                <a:lnTo>
                  <a:pt x="127000" y="1186160"/>
                </a:lnTo>
                <a:arcTo wR="127000" hR="127000" stAng="5400000" swAng="5400000"/>
                <a:lnTo>
                  <a:pt x="0" y="127000"/>
                </a:lnTo>
                <a:arcTo wR="127000" hR="127000" stAng="10800000" swAng="5400000"/>
                <a:lnTo>
                  <a:pt x="127000" y="0"/>
                </a:lnTo>
                <a:arcTo wR="88900" hR="127000" stAng="16200000" swAng="-5400000"/>
                <a:lnTo>
                  <a:pt x="38100" y="1059160"/>
                </a:lnTo>
                <a:arcTo wR="88900" hR="127000" stAng="10800000" swAng="-5400000"/>
                <a:close/>
              </a:path>
            </a:pathLst>
          </a:custGeom>
          <a:solidFill>
            <a:srgbClr val="F2A541"/>
          </a:solidFill>
          <a:ln/>
        </p:spPr>
        <p:txBody>
          <a:bodyPr/>
          <a:lstStyle/>
          <a:p>
            <a:endParaRPr lang="pt-BR"/>
          </a:p>
        </p:txBody>
      </p:sp>
      <p:sp>
        <p:nvSpPr>
          <p:cNvPr id="14" name="Text 12"/>
          <p:cNvSpPr/>
          <p:nvPr/>
        </p:nvSpPr>
        <p:spPr>
          <a:xfrm>
            <a:off x="1104900" y="3799681"/>
            <a:ext cx="477456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1EA"/>
                </a:solidFill>
                <a:latin typeface="Space Grotesk" pitchFamily="34" charset="0"/>
                <a:ea typeface="Space Grotesk" pitchFamily="34" charset="-122"/>
                <a:cs typeface="Space Grotesk" pitchFamily="34" charset="-120"/>
              </a:rPr>
              <a:t>Bancos de dados</a:t>
            </a:r>
            <a:endParaRPr lang="en-US" sz="2200" dirty="0"/>
          </a:p>
        </p:txBody>
      </p:sp>
      <p:sp>
        <p:nvSpPr>
          <p:cNvPr id="15" name="Text 13"/>
          <p:cNvSpPr/>
          <p:nvPr/>
        </p:nvSpPr>
        <p:spPr>
          <a:xfrm>
            <a:off x="1104900" y="4211141"/>
            <a:ext cx="47745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C"/>
                </a:solidFill>
                <a:latin typeface="IBM Plex Sans" pitchFamily="34" charset="0"/>
                <a:ea typeface="IBM Plex Sans" pitchFamily="34" charset="-122"/>
                <a:cs typeface="IBM Plex Sans" pitchFamily="34" charset="-120"/>
              </a:rPr>
              <a:t>Buffer pool do MySQL InnoDB e do PostgreSQL</a:t>
            </a:r>
            <a:endParaRPr lang="en-US" sz="1500" dirty="0"/>
          </a:p>
        </p:txBody>
      </p:sp>
      <p:sp>
        <p:nvSpPr>
          <p:cNvPr id="16" name="Shape 14"/>
          <p:cNvSpPr/>
          <p:nvPr/>
        </p:nvSpPr>
        <p:spPr>
          <a:xfrm>
            <a:off x="6197600" y="3545681"/>
            <a:ext cx="5181600" cy="1186160"/>
          </a:xfrm>
          <a:prstGeom prst="roundRect">
            <a:avLst>
              <a:gd name="adj" fmla="val 10707"/>
            </a:avLst>
          </a:prstGeom>
          <a:solidFill>
            <a:srgbClr val="1C2230"/>
          </a:solidFill>
          <a:ln/>
        </p:spPr>
        <p:txBody>
          <a:bodyPr/>
          <a:lstStyle/>
          <a:p>
            <a:endParaRPr lang="pt-BR"/>
          </a:p>
        </p:txBody>
      </p:sp>
      <p:sp>
        <p:nvSpPr>
          <p:cNvPr id="17" name="Shape 15"/>
          <p:cNvSpPr/>
          <p:nvPr/>
        </p:nvSpPr>
        <p:spPr>
          <a:xfrm>
            <a:off x="6197600" y="3545681"/>
            <a:ext cx="5181600" cy="1186160"/>
          </a:xfrm>
          <a:custGeom>
            <a:avLst/>
            <a:gdLst/>
            <a:ahLst/>
            <a:cxnLst/>
            <a:rect l="l" t="t" r="r" b="b"/>
            <a:pathLst>
              <a:path w="5181600" h="1186160">
                <a:moveTo>
                  <a:pt x="127000" y="1186160"/>
                </a:moveTo>
                <a:lnTo>
                  <a:pt x="127000" y="1186160"/>
                </a:lnTo>
                <a:arcTo wR="127000" hR="127000" stAng="5400000" swAng="5400000"/>
                <a:lnTo>
                  <a:pt x="0" y="127000"/>
                </a:lnTo>
                <a:arcTo wR="127000" hR="127000" stAng="10800000" swAng="5400000"/>
                <a:lnTo>
                  <a:pt x="127000" y="0"/>
                </a:lnTo>
                <a:arcTo wR="88900" hR="127000" stAng="16200000" swAng="-5400000"/>
                <a:lnTo>
                  <a:pt x="38100" y="1059160"/>
                </a:lnTo>
                <a:arcTo wR="88900" hR="127000" stAng="10800000" swAng="-5400000"/>
                <a:close/>
              </a:path>
            </a:pathLst>
          </a:custGeom>
          <a:solidFill>
            <a:srgbClr val="6E9BF5"/>
          </a:solidFill>
          <a:ln/>
        </p:spPr>
        <p:txBody>
          <a:bodyPr/>
          <a:lstStyle/>
          <a:p>
            <a:endParaRPr lang="pt-BR"/>
          </a:p>
        </p:txBody>
      </p:sp>
      <p:sp>
        <p:nvSpPr>
          <p:cNvPr id="18" name="Text 16"/>
          <p:cNvSpPr/>
          <p:nvPr/>
        </p:nvSpPr>
        <p:spPr>
          <a:xfrm>
            <a:off x="6489700" y="3799681"/>
            <a:ext cx="477456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1EA"/>
                </a:solidFill>
                <a:latin typeface="Space Grotesk" pitchFamily="34" charset="0"/>
                <a:ea typeface="Space Grotesk" pitchFamily="34" charset="-122"/>
                <a:cs typeface="Space Grotesk" pitchFamily="34" charset="-120"/>
              </a:rPr>
              <a:t>Cache de CPU</a:t>
            </a:r>
            <a:endParaRPr lang="en-US" sz="2200" dirty="0"/>
          </a:p>
        </p:txBody>
      </p:sp>
      <p:sp>
        <p:nvSpPr>
          <p:cNvPr id="19" name="Text 17"/>
          <p:cNvSpPr/>
          <p:nvPr/>
        </p:nvSpPr>
        <p:spPr>
          <a:xfrm>
            <a:off x="6489700" y="4211141"/>
            <a:ext cx="47745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C"/>
                </a:solidFill>
                <a:latin typeface="IBM Plex Sans" pitchFamily="34" charset="0"/>
                <a:ea typeface="IBM Plex Sans" pitchFamily="34" charset="-122"/>
                <a:cs typeface="IBM Plex Sans" pitchFamily="34" charset="-120"/>
              </a:rPr>
              <a:t>Versão aproximada, por custo de hardware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A65A00"/>
                </a:solidFill>
                <a:latin typeface="JetBrains Mono" pitchFamily="49" charset="0"/>
                <a:ea typeface="JetBrains Mono" pitchFamily="49" charset="-122"/>
                <a:cs typeface="JetBrains Mono" pitchFamily="49" charset="-120"/>
              </a:rPr>
              <a:t>NO SEU DIA A DIA</a:t>
            </a:r>
            <a:endParaRPr lang="en-US" sz="1300" dirty="0"/>
          </a:p>
        </p:txBody>
      </p:sp>
      <p:sp>
        <p:nvSpPr>
          <p:cNvPr id="3" name="Text 1"/>
          <p:cNvSpPr>
            <a:spLocks noGrp="1"/>
          </p:cNvSpPr>
          <p:nvPr>
            <p:ph type="title"/>
          </p:nvPr>
        </p:nvSpPr>
        <p:spPr>
          <a:xfrm>
            <a:off x="812800" y="13994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D24"/>
                </a:solidFill>
                <a:latin typeface="Space Grotesk" pitchFamily="34" charset="0"/>
                <a:ea typeface="Space Grotesk" pitchFamily="34" charset="-122"/>
                <a:cs typeface="Space Grotesk" pitchFamily="34" charset="-120"/>
              </a:rPr>
              <a:t>Você esbarra em cache o tempo todo</a:t>
            </a:r>
            <a:endParaRPr lang="en-US" sz="3600" dirty="0"/>
          </a:p>
        </p:txBody>
      </p:sp>
      <p:sp>
        <p:nvSpPr>
          <p:cNvPr id="4" name="Shape 2"/>
          <p:cNvSpPr/>
          <p:nvPr/>
        </p:nvSpPr>
        <p:spPr>
          <a:xfrm>
            <a:off x="815975" y="2261096"/>
            <a:ext cx="3376017" cy="2343150"/>
          </a:xfrm>
          <a:prstGeom prst="roundRect">
            <a:avLst>
              <a:gd name="adj" fmla="val 5285"/>
            </a:avLst>
          </a:prstGeom>
          <a:solidFill>
            <a:srgbClr val="FFFDF8"/>
          </a:solidFill>
          <a:ln w="6350">
            <a:solidFill>
              <a:srgbClr val="E3DCCB"/>
            </a:solidFill>
            <a:prstDash val="solid"/>
          </a:ln>
        </p:spPr>
        <p:txBody>
          <a:bodyPr/>
          <a:lstStyle/>
          <a:p>
            <a:endParaRPr lang="pt-BR"/>
          </a:p>
        </p:txBody>
      </p:sp>
      <p:pic>
        <p:nvPicPr>
          <p:cNvPr id="5" name="Image 0" descr="Globe"/>
          <p:cNvPicPr>
            <a:picLocks noChangeAspect="1"/>
          </p:cNvPicPr>
          <p:nvPr/>
        </p:nvPicPr>
        <p:blipFill>
          <a:blip r:embed="rId3"/>
          <a:srcRect/>
          <a:stretch/>
        </p:blipFill>
        <p:spPr>
          <a:xfrm>
            <a:off x="1098550" y="2543671"/>
            <a:ext cx="406400" cy="406400"/>
          </a:xfrm>
          <a:prstGeom prst="rect">
            <a:avLst/>
          </a:prstGeom>
        </p:spPr>
      </p:pic>
      <p:sp>
        <p:nvSpPr>
          <p:cNvPr id="6" name="Text 3"/>
          <p:cNvSpPr/>
          <p:nvPr/>
        </p:nvSpPr>
        <p:spPr>
          <a:xfrm>
            <a:off x="1098550" y="3077071"/>
            <a:ext cx="28951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D24"/>
                </a:solidFill>
                <a:latin typeface="Space Grotesk" pitchFamily="34" charset="0"/>
                <a:ea typeface="Space Grotesk" pitchFamily="34" charset="-122"/>
                <a:cs typeface="Space Grotesk" pitchFamily="34" charset="-120"/>
              </a:rPr>
              <a:t>Navegador</a:t>
            </a:r>
            <a:endParaRPr lang="en-US" sz="2000" dirty="0"/>
          </a:p>
        </p:txBody>
      </p:sp>
      <p:sp>
        <p:nvSpPr>
          <p:cNvPr id="7" name="Text 4"/>
          <p:cNvSpPr/>
          <p:nvPr/>
        </p:nvSpPr>
        <p:spPr>
          <a:xfrm>
            <a:off x="1098550" y="3508871"/>
            <a:ext cx="289519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060"/>
                </a:solidFill>
                <a:latin typeface="IBM Plex Sans" pitchFamily="34" charset="0"/>
                <a:ea typeface="IBM Plex Sans" pitchFamily="34" charset="-122"/>
                <a:cs typeface="IBM Plex Sans" pitchFamily="34" charset="-120"/>
              </a:rPr>
              <a:t>Guarda imagens e arquivos dos sites que você visita para a próxima abrir mais rápido.</a:t>
            </a:r>
            <a:endParaRPr lang="en-US" sz="1500" dirty="0"/>
          </a:p>
        </p:txBody>
      </p:sp>
      <p:sp>
        <p:nvSpPr>
          <p:cNvPr id="8" name="Shape 5"/>
          <p:cNvSpPr/>
          <p:nvPr/>
        </p:nvSpPr>
        <p:spPr>
          <a:xfrm>
            <a:off x="4404717" y="2264271"/>
            <a:ext cx="3382466" cy="2336800"/>
          </a:xfrm>
          <a:prstGeom prst="roundRect">
            <a:avLst>
              <a:gd name="adj" fmla="val 5163"/>
            </a:avLst>
          </a:prstGeom>
          <a:solidFill>
            <a:srgbClr val="FFFDF8"/>
          </a:solidFill>
          <a:ln w="12700">
            <a:solidFill>
              <a:srgbClr val="F2A541"/>
            </a:solidFill>
            <a:prstDash val="solid"/>
          </a:ln>
        </p:spPr>
        <p:txBody>
          <a:bodyPr/>
          <a:lstStyle/>
          <a:p>
            <a:endParaRPr lang="pt-BR"/>
          </a:p>
        </p:txBody>
      </p:sp>
      <p:pic>
        <p:nvPicPr>
          <p:cNvPr id="9" name="Image 1" descr="Clock"/>
          <p:cNvPicPr>
            <a:picLocks noChangeAspect="1"/>
          </p:cNvPicPr>
          <p:nvPr/>
        </p:nvPicPr>
        <p:blipFill>
          <a:blip r:embed="rId4"/>
          <a:srcRect/>
          <a:stretch/>
        </p:blipFill>
        <p:spPr>
          <a:xfrm>
            <a:off x="4690467" y="2550021"/>
            <a:ext cx="406400" cy="406400"/>
          </a:xfrm>
          <a:prstGeom prst="rect">
            <a:avLst/>
          </a:prstGeom>
        </p:spPr>
      </p:pic>
      <p:sp>
        <p:nvSpPr>
          <p:cNvPr id="10" name="Text 6"/>
          <p:cNvSpPr/>
          <p:nvPr/>
        </p:nvSpPr>
        <p:spPr>
          <a:xfrm>
            <a:off x="4690467" y="3083421"/>
            <a:ext cx="28952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D24"/>
                </a:solidFill>
                <a:latin typeface="Space Grotesk" pitchFamily="34" charset="0"/>
                <a:ea typeface="Space Grotesk" pitchFamily="34" charset="-122"/>
                <a:cs typeface="Space Grotesk" pitchFamily="34" charset="-120"/>
              </a:rPr>
              <a:t>Lista de “Recentes”</a:t>
            </a:r>
            <a:endParaRPr lang="en-US" sz="2000" dirty="0"/>
          </a:p>
        </p:txBody>
      </p:sp>
      <p:sp>
        <p:nvSpPr>
          <p:cNvPr id="11" name="Text 7"/>
          <p:cNvSpPr/>
          <p:nvPr/>
        </p:nvSpPr>
        <p:spPr>
          <a:xfrm>
            <a:off x="4690467" y="3515221"/>
            <a:ext cx="289529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060"/>
                </a:solidFill>
                <a:latin typeface="IBM Plex Sans" pitchFamily="34" charset="0"/>
                <a:ea typeface="IBM Plex Sans" pitchFamily="34" charset="-122"/>
                <a:cs typeface="IBM Plex Sans" pitchFamily="34" charset="-120"/>
              </a:rPr>
              <a:t>O último arquivo aberto sobe para o topo; o mais antigo some do fim. É LRU puro.</a:t>
            </a:r>
            <a:endParaRPr lang="en-US" sz="1500" dirty="0"/>
          </a:p>
        </p:txBody>
      </p:sp>
      <p:sp>
        <p:nvSpPr>
          <p:cNvPr id="12" name="Shape 8"/>
          <p:cNvSpPr/>
          <p:nvPr/>
        </p:nvSpPr>
        <p:spPr>
          <a:xfrm>
            <a:off x="7999909" y="2261096"/>
            <a:ext cx="3376116" cy="2343150"/>
          </a:xfrm>
          <a:prstGeom prst="roundRect">
            <a:avLst>
              <a:gd name="adj" fmla="val 5285"/>
            </a:avLst>
          </a:prstGeom>
          <a:solidFill>
            <a:srgbClr val="FFFDF8"/>
          </a:solidFill>
          <a:ln w="6350">
            <a:solidFill>
              <a:srgbClr val="E3DCCB"/>
            </a:solidFill>
            <a:prstDash val="solid"/>
          </a:ln>
        </p:spPr>
        <p:txBody>
          <a:bodyPr/>
          <a:lstStyle/>
          <a:p>
            <a:endParaRPr lang="pt-BR"/>
          </a:p>
        </p:txBody>
      </p:sp>
      <p:pic>
        <p:nvPicPr>
          <p:cNvPr id="13" name="Image 2" descr="Cloud"/>
          <p:cNvPicPr>
            <a:picLocks noChangeAspect="1"/>
          </p:cNvPicPr>
          <p:nvPr/>
        </p:nvPicPr>
        <p:blipFill>
          <a:blip r:embed="rId5"/>
          <a:srcRect/>
          <a:stretch/>
        </p:blipFill>
        <p:spPr>
          <a:xfrm>
            <a:off x="8282484" y="2543671"/>
            <a:ext cx="406400" cy="406400"/>
          </a:xfrm>
          <a:prstGeom prst="rect">
            <a:avLst/>
          </a:prstGeom>
        </p:spPr>
      </p:pic>
      <p:sp>
        <p:nvSpPr>
          <p:cNvPr id="14" name="Text 9"/>
          <p:cNvSpPr/>
          <p:nvPr/>
        </p:nvSpPr>
        <p:spPr>
          <a:xfrm>
            <a:off x="8282484" y="3077071"/>
            <a:ext cx="28952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A1D24"/>
                </a:solidFill>
                <a:latin typeface="Space Grotesk" pitchFamily="34" charset="0"/>
                <a:ea typeface="Space Grotesk" pitchFamily="34" charset="-122"/>
                <a:cs typeface="Space Grotesk" pitchFamily="34" charset="-120"/>
              </a:rPr>
              <a:t>CDN e streaming</a:t>
            </a:r>
            <a:endParaRPr lang="en-US" sz="2000" dirty="0"/>
          </a:p>
        </p:txBody>
      </p:sp>
      <p:sp>
        <p:nvSpPr>
          <p:cNvPr id="15" name="Text 10"/>
          <p:cNvSpPr/>
          <p:nvPr/>
        </p:nvSpPr>
        <p:spPr>
          <a:xfrm>
            <a:off x="8282484" y="3508871"/>
            <a:ext cx="2895295"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060"/>
                </a:solidFill>
                <a:latin typeface="IBM Plex Sans" pitchFamily="34" charset="0"/>
                <a:ea typeface="IBM Plex Sans" pitchFamily="34" charset="-122"/>
                <a:cs typeface="IBM Plex Sans" pitchFamily="34" charset="-120"/>
              </a:rPr>
              <a:t>Servidores perto de você guardam o conteúdo mais acessado.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NO SEU SISTEMA</a:t>
            </a:r>
            <a:endParaRPr lang="en-US" sz="1300" dirty="0"/>
          </a:p>
        </p:txBody>
      </p:sp>
      <p:sp>
        <p:nvSpPr>
          <p:cNvPr id="3" name="Text 1"/>
          <p:cNvSpPr>
            <a:spLocks noGrp="1"/>
          </p:cNvSpPr>
          <p:nvPr>
            <p:ph type="title"/>
          </p:nvPr>
        </p:nvSpPr>
        <p:spPr>
          <a:xfrm>
            <a:off x="812800" y="13232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Onde um cache faz diferença</a:t>
            </a:r>
            <a:endParaRPr lang="en-US" sz="3600" dirty="0"/>
          </a:p>
        </p:txBody>
      </p:sp>
      <p:sp>
        <p:nvSpPr>
          <p:cNvPr id="4" name="Shape 2"/>
          <p:cNvSpPr/>
          <p:nvPr/>
        </p:nvSpPr>
        <p:spPr>
          <a:xfrm>
            <a:off x="812800" y="2105521"/>
            <a:ext cx="2527300" cy="1645741"/>
          </a:xfrm>
          <a:prstGeom prst="roundRect">
            <a:avLst>
              <a:gd name="adj" fmla="val 7717"/>
            </a:avLst>
          </a:prstGeom>
          <a:solidFill>
            <a:srgbClr val="1C2230"/>
          </a:solidFill>
          <a:ln/>
        </p:spPr>
        <p:txBody>
          <a:bodyPr/>
          <a:lstStyle/>
          <a:p>
            <a:endParaRPr lang="pt-BR"/>
          </a:p>
        </p:txBody>
      </p:sp>
      <p:pic>
        <p:nvPicPr>
          <p:cNvPr id="5" name="Image 0" descr="Database"/>
          <p:cNvPicPr>
            <a:picLocks noChangeAspect="1"/>
          </p:cNvPicPr>
          <p:nvPr/>
        </p:nvPicPr>
        <p:blipFill>
          <a:blip r:embed="rId3"/>
          <a:srcRect/>
          <a:stretch/>
        </p:blipFill>
        <p:spPr>
          <a:xfrm>
            <a:off x="1016000" y="2308721"/>
            <a:ext cx="355600" cy="355600"/>
          </a:xfrm>
          <a:prstGeom prst="rect">
            <a:avLst/>
          </a:prstGeom>
        </p:spPr>
      </p:pic>
      <p:sp>
        <p:nvSpPr>
          <p:cNvPr id="6" name="Text 3"/>
          <p:cNvSpPr/>
          <p:nvPr/>
        </p:nvSpPr>
        <p:spPr>
          <a:xfrm>
            <a:off x="1016000" y="2753221"/>
            <a:ext cx="21845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Banco de dados</a:t>
            </a:r>
            <a:endParaRPr lang="en-US" sz="1600" dirty="0"/>
          </a:p>
        </p:txBody>
      </p:sp>
      <p:sp>
        <p:nvSpPr>
          <p:cNvPr id="7" name="Text 4"/>
          <p:cNvSpPr/>
          <p:nvPr/>
        </p:nvSpPr>
        <p:spPr>
          <a:xfrm>
            <a:off x="1016000" y="3085902"/>
            <a:ext cx="21845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A mesma consulta feita várias vezes</a:t>
            </a:r>
            <a:endParaRPr lang="en-US" sz="1300" dirty="0"/>
          </a:p>
        </p:txBody>
      </p:sp>
      <p:sp>
        <p:nvSpPr>
          <p:cNvPr id="8" name="Shape 5"/>
          <p:cNvSpPr/>
          <p:nvPr/>
        </p:nvSpPr>
        <p:spPr>
          <a:xfrm>
            <a:off x="3492500" y="2105521"/>
            <a:ext cx="2527300" cy="1645741"/>
          </a:xfrm>
          <a:prstGeom prst="roundRect">
            <a:avLst>
              <a:gd name="adj" fmla="val 7717"/>
            </a:avLst>
          </a:prstGeom>
          <a:solidFill>
            <a:srgbClr val="1C2230"/>
          </a:solidFill>
          <a:ln/>
        </p:spPr>
        <p:txBody>
          <a:bodyPr/>
          <a:lstStyle/>
          <a:p>
            <a:endParaRPr lang="pt-BR"/>
          </a:p>
        </p:txBody>
      </p:sp>
      <p:pic>
        <p:nvPicPr>
          <p:cNvPr id="9" name="Image 1" descr="Globe"/>
          <p:cNvPicPr>
            <a:picLocks noChangeAspect="1"/>
          </p:cNvPicPr>
          <p:nvPr/>
        </p:nvPicPr>
        <p:blipFill>
          <a:blip r:embed="rId4"/>
          <a:srcRect/>
          <a:stretch/>
        </p:blipFill>
        <p:spPr>
          <a:xfrm>
            <a:off x="3695700" y="2308721"/>
            <a:ext cx="355600" cy="355600"/>
          </a:xfrm>
          <a:prstGeom prst="rect">
            <a:avLst/>
          </a:prstGeom>
        </p:spPr>
      </p:pic>
      <p:sp>
        <p:nvSpPr>
          <p:cNvPr id="10" name="Text 6"/>
          <p:cNvSpPr/>
          <p:nvPr/>
        </p:nvSpPr>
        <p:spPr>
          <a:xfrm>
            <a:off x="3695700" y="2753221"/>
            <a:ext cx="21845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APIs externas</a:t>
            </a:r>
            <a:endParaRPr lang="en-US" sz="1600" dirty="0"/>
          </a:p>
        </p:txBody>
      </p:sp>
      <p:sp>
        <p:nvSpPr>
          <p:cNvPr id="11" name="Text 7"/>
          <p:cNvSpPr/>
          <p:nvPr/>
        </p:nvSpPr>
        <p:spPr>
          <a:xfrm>
            <a:off x="3695700" y="3085902"/>
            <a:ext cx="21845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Respostas lentas, pagas ou com limite de uso</a:t>
            </a:r>
            <a:endParaRPr lang="en-US" sz="1300" dirty="0"/>
          </a:p>
        </p:txBody>
      </p:sp>
      <p:sp>
        <p:nvSpPr>
          <p:cNvPr id="12" name="Shape 8"/>
          <p:cNvSpPr/>
          <p:nvPr/>
        </p:nvSpPr>
        <p:spPr>
          <a:xfrm>
            <a:off x="6172200" y="2105521"/>
            <a:ext cx="2527300" cy="1645741"/>
          </a:xfrm>
          <a:prstGeom prst="roundRect">
            <a:avLst>
              <a:gd name="adj" fmla="val 7717"/>
            </a:avLst>
          </a:prstGeom>
          <a:solidFill>
            <a:srgbClr val="1C2230"/>
          </a:solidFill>
          <a:ln/>
        </p:spPr>
        <p:txBody>
          <a:bodyPr/>
          <a:lstStyle/>
          <a:p>
            <a:endParaRPr lang="pt-BR"/>
          </a:p>
        </p:txBody>
      </p:sp>
      <p:pic>
        <p:nvPicPr>
          <p:cNvPr id="13" name="Image 2" descr="Chart"/>
          <p:cNvPicPr>
            <a:picLocks noChangeAspect="1"/>
          </p:cNvPicPr>
          <p:nvPr/>
        </p:nvPicPr>
        <p:blipFill>
          <a:blip r:embed="rId5"/>
          <a:srcRect/>
          <a:stretch/>
        </p:blipFill>
        <p:spPr>
          <a:xfrm>
            <a:off x="6375400" y="2308721"/>
            <a:ext cx="355600" cy="355600"/>
          </a:xfrm>
          <a:prstGeom prst="rect">
            <a:avLst/>
          </a:prstGeom>
        </p:spPr>
      </p:pic>
      <p:sp>
        <p:nvSpPr>
          <p:cNvPr id="14" name="Text 9"/>
          <p:cNvSpPr/>
          <p:nvPr/>
        </p:nvSpPr>
        <p:spPr>
          <a:xfrm>
            <a:off x="6375400" y="2753221"/>
            <a:ext cx="21845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Cálculos pesados</a:t>
            </a:r>
            <a:endParaRPr lang="en-US" sz="1600" dirty="0"/>
          </a:p>
        </p:txBody>
      </p:sp>
      <p:sp>
        <p:nvSpPr>
          <p:cNvPr id="15" name="Text 10"/>
          <p:cNvSpPr/>
          <p:nvPr/>
        </p:nvSpPr>
        <p:spPr>
          <a:xfrm>
            <a:off x="6375400" y="3085902"/>
            <a:ext cx="21845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Relatórios, dashboards, recomendações</a:t>
            </a:r>
            <a:endParaRPr lang="en-US" sz="1300" dirty="0"/>
          </a:p>
        </p:txBody>
      </p:sp>
      <p:sp>
        <p:nvSpPr>
          <p:cNvPr id="16" name="Shape 11"/>
          <p:cNvSpPr/>
          <p:nvPr/>
        </p:nvSpPr>
        <p:spPr>
          <a:xfrm>
            <a:off x="8851900" y="2105521"/>
            <a:ext cx="2527300" cy="1645741"/>
          </a:xfrm>
          <a:prstGeom prst="roundRect">
            <a:avLst>
              <a:gd name="adj" fmla="val 7717"/>
            </a:avLst>
          </a:prstGeom>
          <a:solidFill>
            <a:srgbClr val="1C2230"/>
          </a:solidFill>
          <a:ln/>
        </p:spPr>
        <p:txBody>
          <a:bodyPr/>
          <a:lstStyle/>
          <a:p>
            <a:endParaRPr lang="pt-BR"/>
          </a:p>
        </p:txBody>
      </p:sp>
      <p:pic>
        <p:nvPicPr>
          <p:cNvPr id="17" name="Image 3" descr="Cloud"/>
          <p:cNvPicPr>
            <a:picLocks noChangeAspect="1"/>
          </p:cNvPicPr>
          <p:nvPr/>
        </p:nvPicPr>
        <p:blipFill>
          <a:blip r:embed="rId6"/>
          <a:srcRect/>
          <a:stretch/>
        </p:blipFill>
        <p:spPr>
          <a:xfrm>
            <a:off x="9055100" y="2308721"/>
            <a:ext cx="355600" cy="355600"/>
          </a:xfrm>
          <a:prstGeom prst="rect">
            <a:avLst/>
          </a:prstGeom>
        </p:spPr>
      </p:pic>
      <p:sp>
        <p:nvSpPr>
          <p:cNvPr id="18" name="Text 12"/>
          <p:cNvSpPr/>
          <p:nvPr/>
        </p:nvSpPr>
        <p:spPr>
          <a:xfrm>
            <a:off x="9055100" y="2753221"/>
            <a:ext cx="21845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Arquivos e mídia</a:t>
            </a:r>
            <a:endParaRPr lang="en-US" sz="1600" dirty="0"/>
          </a:p>
        </p:txBody>
      </p:sp>
      <p:sp>
        <p:nvSpPr>
          <p:cNvPr id="19" name="Text 13"/>
          <p:cNvSpPr/>
          <p:nvPr/>
        </p:nvSpPr>
        <p:spPr>
          <a:xfrm>
            <a:off x="9055100" y="3085902"/>
            <a:ext cx="218452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Imagens, páginas e arquivos que mudam pouco</a:t>
            </a:r>
            <a:endParaRPr lang="en-US" sz="1300" dirty="0"/>
          </a:p>
        </p:txBody>
      </p:sp>
      <p:sp>
        <p:nvSpPr>
          <p:cNvPr id="20" name="Text 14"/>
          <p:cNvSpPr/>
          <p:nvPr/>
        </p:nvSpPr>
        <p:spPr>
          <a:xfrm>
            <a:off x="812800" y="4030662"/>
            <a:ext cx="10883392"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4F1EA"/>
                </a:solidFill>
                <a:latin typeface="Space Grotesk" pitchFamily="34" charset="0"/>
                <a:ea typeface="Space Grotesk" pitchFamily="34" charset="-122"/>
                <a:cs typeface="Space Grotesk" pitchFamily="34" charset="-120"/>
              </a:rPr>
              <a:t>Antes de colocar um cache, responda:</a:t>
            </a:r>
            <a:endParaRPr lang="en-US" sz="1800" dirty="0"/>
          </a:p>
        </p:txBody>
      </p:sp>
      <p:sp>
        <p:nvSpPr>
          <p:cNvPr id="21" name="Shape 15"/>
          <p:cNvSpPr/>
          <p:nvPr/>
        </p:nvSpPr>
        <p:spPr>
          <a:xfrm>
            <a:off x="812800" y="4487168"/>
            <a:ext cx="3420467" cy="0"/>
          </a:xfrm>
          <a:prstGeom prst="line">
            <a:avLst/>
          </a:prstGeom>
          <a:noFill/>
          <a:ln w="19050">
            <a:solidFill>
              <a:srgbClr val="F2A541"/>
            </a:solidFill>
            <a:prstDash val="solid"/>
          </a:ln>
        </p:spPr>
        <p:txBody>
          <a:bodyPr/>
          <a:lstStyle/>
          <a:p>
            <a:endParaRPr lang="pt-BR"/>
          </a:p>
        </p:txBody>
      </p:sp>
      <p:sp>
        <p:nvSpPr>
          <p:cNvPr id="22" name="Text 16"/>
          <p:cNvSpPr/>
          <p:nvPr/>
        </p:nvSpPr>
        <p:spPr>
          <a:xfrm>
            <a:off x="812800" y="4598293"/>
            <a:ext cx="35230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541"/>
                </a:solidFill>
                <a:latin typeface="IBM Plex Sans" pitchFamily="34" charset="0"/>
                <a:ea typeface="IBM Plex Sans" pitchFamily="34" charset="-122"/>
                <a:cs typeface="IBM Plex Sans" pitchFamily="34" charset="-120"/>
              </a:rPr>
              <a:t>1.</a:t>
            </a:r>
            <a:r>
              <a:rPr lang="en-US" sz="1400" dirty="0">
                <a:solidFill>
                  <a:srgbClr val="E8E4DA"/>
                </a:solidFill>
                <a:latin typeface="IBM Plex Sans" pitchFamily="34" charset="0"/>
                <a:ea typeface="IBM Plex Sans" pitchFamily="34" charset="-122"/>
                <a:cs typeface="IBM Plex Sans" pitchFamily="34" charset="-120"/>
              </a:rPr>
              <a:t> Essa leitura se repete?</a:t>
            </a:r>
            <a:endParaRPr lang="en-US" sz="1400" dirty="0"/>
          </a:p>
        </p:txBody>
      </p:sp>
      <p:sp>
        <p:nvSpPr>
          <p:cNvPr id="23" name="Shape 17"/>
          <p:cNvSpPr/>
          <p:nvPr/>
        </p:nvSpPr>
        <p:spPr>
          <a:xfrm>
            <a:off x="4385667" y="4487168"/>
            <a:ext cx="3420566" cy="0"/>
          </a:xfrm>
          <a:prstGeom prst="line">
            <a:avLst/>
          </a:prstGeom>
          <a:noFill/>
          <a:ln w="19050">
            <a:solidFill>
              <a:srgbClr val="F2A541"/>
            </a:solidFill>
            <a:prstDash val="solid"/>
          </a:ln>
        </p:spPr>
        <p:txBody>
          <a:bodyPr/>
          <a:lstStyle/>
          <a:p>
            <a:endParaRPr lang="pt-BR"/>
          </a:p>
        </p:txBody>
      </p:sp>
      <p:sp>
        <p:nvSpPr>
          <p:cNvPr id="24" name="Text 18"/>
          <p:cNvSpPr/>
          <p:nvPr/>
        </p:nvSpPr>
        <p:spPr>
          <a:xfrm>
            <a:off x="4385667" y="4598293"/>
            <a:ext cx="352318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541"/>
                </a:solidFill>
                <a:latin typeface="IBM Plex Sans" pitchFamily="34" charset="0"/>
                <a:ea typeface="IBM Plex Sans" pitchFamily="34" charset="-122"/>
                <a:cs typeface="IBM Plex Sans" pitchFamily="34" charset="-120"/>
              </a:rPr>
              <a:t>2.</a:t>
            </a:r>
            <a:r>
              <a:rPr lang="en-US" sz="1400" dirty="0">
                <a:solidFill>
                  <a:srgbClr val="E8E4DA"/>
                </a:solidFill>
                <a:latin typeface="IBM Plex Sans" pitchFamily="34" charset="0"/>
                <a:ea typeface="IBM Plex Sans" pitchFamily="34" charset="-122"/>
                <a:cs typeface="IBM Plex Sans" pitchFamily="34" charset="-120"/>
              </a:rPr>
              <a:t> Quanto cabe? (o limite)</a:t>
            </a:r>
            <a:endParaRPr lang="en-US" sz="1400" dirty="0"/>
          </a:p>
        </p:txBody>
      </p:sp>
      <p:sp>
        <p:nvSpPr>
          <p:cNvPr id="25" name="Shape 19"/>
          <p:cNvSpPr/>
          <p:nvPr/>
        </p:nvSpPr>
        <p:spPr>
          <a:xfrm>
            <a:off x="7958634" y="4487168"/>
            <a:ext cx="3420566" cy="0"/>
          </a:xfrm>
          <a:prstGeom prst="line">
            <a:avLst/>
          </a:prstGeom>
          <a:noFill/>
          <a:ln w="19050">
            <a:solidFill>
              <a:srgbClr val="6E9BF5"/>
            </a:solidFill>
            <a:prstDash val="solid"/>
          </a:ln>
        </p:spPr>
        <p:txBody>
          <a:bodyPr/>
          <a:lstStyle/>
          <a:p>
            <a:endParaRPr lang="pt-BR"/>
          </a:p>
        </p:txBody>
      </p:sp>
      <p:sp>
        <p:nvSpPr>
          <p:cNvPr id="26" name="Text 20"/>
          <p:cNvSpPr/>
          <p:nvPr/>
        </p:nvSpPr>
        <p:spPr>
          <a:xfrm>
            <a:off x="7958634" y="4598293"/>
            <a:ext cx="352318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E9BF5"/>
                </a:solidFill>
                <a:latin typeface="IBM Plex Sans" pitchFamily="34" charset="0"/>
                <a:ea typeface="IBM Plex Sans" pitchFamily="34" charset="-122"/>
                <a:cs typeface="IBM Plex Sans" pitchFamily="34" charset="-120"/>
              </a:rPr>
              <a:t>3.</a:t>
            </a:r>
            <a:r>
              <a:rPr lang="en-US" sz="1400" dirty="0">
                <a:solidFill>
                  <a:srgbClr val="E8E4DA"/>
                </a:solidFill>
                <a:latin typeface="IBM Plex Sans" pitchFamily="34" charset="0"/>
                <a:ea typeface="IBM Plex Sans" pitchFamily="34" charset="-122"/>
                <a:cs typeface="IBM Plex Sans" pitchFamily="34" charset="-120"/>
              </a:rPr>
              <a:t> Quando o dado fica velho?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8940"/>
          </a:xfrm>
          <a:prstGeom prst="rect">
            <a:avLst/>
          </a:prstGeom>
          <a:noFill/>
          <a:ln/>
        </p:spPr>
        <p:txBody>
          <a:bodyPr wrap="square" lIns="0" tIns="0" rIns="0" bIns="0" rtlCol="0" anchor="t">
            <a:normAutofit/>
          </a:bodyPr>
          <a:lstStyle/>
          <a:p>
            <a:pPr marL="0" indent="0" algn="l">
              <a:lnSpc>
                <a:spcPts val="1774"/>
              </a:lnSpc>
              <a:buNone/>
            </a:pPr>
            <a:r>
              <a:rPr lang="en-US" sz="1268" kern="0" spc="150" dirty="0">
                <a:solidFill>
                  <a:srgbClr val="A65A00"/>
                </a:solidFill>
                <a:latin typeface="JetBrains Mono" pitchFamily="49" charset="0"/>
                <a:ea typeface="JetBrains Mono" pitchFamily="49" charset="-122"/>
                <a:cs typeface="JetBrains Mono" pitchFamily="49" charset="-120"/>
              </a:rPr>
              <a:t>NOTAÇÃO BIG-O</a:t>
            </a:r>
            <a:endParaRPr lang="en-US" sz="1268" dirty="0"/>
          </a:p>
        </p:txBody>
      </p:sp>
      <p:sp>
        <p:nvSpPr>
          <p:cNvPr id="3" name="Text 1"/>
          <p:cNvSpPr>
            <a:spLocks noGrp="1"/>
          </p:cNvSpPr>
          <p:nvPr>
            <p:ph type="title"/>
          </p:nvPr>
        </p:nvSpPr>
        <p:spPr>
          <a:xfrm>
            <a:off x="812800" y="1315740"/>
            <a:ext cx="11379200" cy="998538"/>
          </a:xfrm>
          <a:prstGeom prst="rect">
            <a:avLst/>
          </a:prstGeom>
          <a:noFill/>
          <a:ln/>
        </p:spPr>
        <p:txBody>
          <a:bodyPr wrap="square" lIns="0" tIns="0" rIns="0" bIns="0" rtlCol="0" anchor="t">
            <a:normAutofit/>
          </a:bodyPr>
          <a:lstStyle/>
          <a:p>
            <a:pPr marL="0" indent="0" algn="l">
              <a:lnSpc>
                <a:spcPts val="3911"/>
              </a:lnSpc>
              <a:buNone/>
            </a:pPr>
            <a:r>
              <a:rPr lang="en-US" sz="3555" b="1" i="0" dirty="0">
                <a:solidFill>
                  <a:srgbClr val="1A1D24"/>
                </a:solidFill>
                <a:latin typeface="Space Grotesk" pitchFamily="34" charset="0"/>
                <a:ea typeface="Space Grotesk" pitchFamily="34" charset="-122"/>
                <a:cs typeface="Space Grotesk" pitchFamily="34" charset="-120"/>
              </a:rPr>
              <a:t>Como o tempo cresce quando os dados crescem</a:t>
            </a:r>
            <a:endParaRPr lang="en-US" sz="3555" dirty="0"/>
          </a:p>
        </p:txBody>
      </p:sp>
      <p:sp>
        <p:nvSpPr>
          <p:cNvPr id="4" name="Shape 2"/>
          <p:cNvSpPr/>
          <p:nvPr/>
        </p:nvSpPr>
        <p:spPr>
          <a:xfrm>
            <a:off x="819150" y="2574627"/>
            <a:ext cx="3382367" cy="2840732"/>
          </a:xfrm>
          <a:prstGeom prst="roundRect">
            <a:avLst>
              <a:gd name="adj" fmla="val 4247"/>
            </a:avLst>
          </a:prstGeom>
          <a:solidFill>
            <a:srgbClr val="FFFDF8"/>
          </a:solidFill>
          <a:ln w="12700">
            <a:solidFill>
              <a:srgbClr val="F2A541"/>
            </a:solidFill>
            <a:prstDash val="solid"/>
          </a:ln>
        </p:spPr>
        <p:txBody>
          <a:bodyPr/>
          <a:lstStyle/>
          <a:p>
            <a:endParaRPr lang="pt-BR"/>
          </a:p>
        </p:txBody>
      </p:sp>
      <p:sp>
        <p:nvSpPr>
          <p:cNvPr id="5" name="Text 3"/>
          <p:cNvSpPr/>
          <p:nvPr/>
        </p:nvSpPr>
        <p:spPr>
          <a:xfrm>
            <a:off x="1079500" y="2834977"/>
            <a:ext cx="2947517" cy="609104"/>
          </a:xfrm>
          <a:prstGeom prst="rect">
            <a:avLst/>
          </a:prstGeom>
          <a:noFill/>
          <a:ln/>
        </p:spPr>
        <p:txBody>
          <a:bodyPr wrap="square" lIns="0" tIns="0" rIns="0" bIns="0" rtlCol="0" anchor="t">
            <a:normAutofit/>
          </a:bodyPr>
          <a:lstStyle/>
          <a:p>
            <a:pPr marL="0" indent="0" algn="l">
              <a:lnSpc>
                <a:spcPts val="4613"/>
              </a:lnSpc>
              <a:buNone/>
            </a:pPr>
            <a:r>
              <a:rPr lang="en-US" sz="4194" b="1" dirty="0">
                <a:solidFill>
                  <a:srgbClr val="A65A00"/>
                </a:solidFill>
                <a:latin typeface="Space Grotesk" pitchFamily="34" charset="0"/>
                <a:ea typeface="Space Grotesk" pitchFamily="34" charset="-122"/>
                <a:cs typeface="Space Grotesk" pitchFamily="34" charset="-120"/>
              </a:rPr>
              <a:t>O(1)</a:t>
            </a:r>
            <a:endParaRPr lang="en-US" sz="4194" dirty="0"/>
          </a:p>
        </p:txBody>
      </p:sp>
      <p:sp>
        <p:nvSpPr>
          <p:cNvPr id="6" name="Text 4"/>
          <p:cNvSpPr/>
          <p:nvPr/>
        </p:nvSpPr>
        <p:spPr>
          <a:xfrm>
            <a:off x="1079500" y="3520281"/>
            <a:ext cx="2947517" cy="228005"/>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JetBrains Mono" pitchFamily="49" charset="0"/>
                <a:ea typeface="JetBrains Mono" pitchFamily="49" charset="-122"/>
                <a:cs typeface="JetBrains Mono" pitchFamily="49" charset="-120"/>
              </a:rPr>
              <a:t>CONSTANTE</a:t>
            </a:r>
            <a:endParaRPr lang="en-US" sz="1159" dirty="0"/>
          </a:p>
        </p:txBody>
      </p:sp>
      <p:sp>
        <p:nvSpPr>
          <p:cNvPr id="7" name="Text 5"/>
          <p:cNvSpPr/>
          <p:nvPr/>
        </p:nvSpPr>
        <p:spPr>
          <a:xfrm>
            <a:off x="1079500" y="3824486"/>
            <a:ext cx="2947517" cy="532011"/>
          </a:xfrm>
          <a:prstGeom prst="rect">
            <a:avLst/>
          </a:prstGeom>
          <a:noFill/>
          <a:ln/>
        </p:spPr>
        <p:txBody>
          <a:bodyPr wrap="square" lIns="0" tIns="0" rIns="0" bIns="0" rtlCol="0" anchor="t">
            <a:normAutofit/>
          </a:bodyPr>
          <a:lstStyle/>
          <a:p>
            <a:pPr marL="0" indent="0" algn="l">
              <a:lnSpc>
                <a:spcPts val="2008"/>
              </a:lnSpc>
              <a:buNone/>
            </a:pPr>
            <a:r>
              <a:rPr lang="en-US" sz="1434" dirty="0">
                <a:solidFill>
                  <a:srgbClr val="1A1D24"/>
                </a:solidFill>
                <a:latin typeface="IBM Plex Sans" pitchFamily="34" charset="0"/>
                <a:ea typeface="IBM Plex Sans" pitchFamily="34" charset="-122"/>
                <a:cs typeface="IBM Plex Sans" pitchFamily="34" charset="-120"/>
              </a:rPr>
              <a:t>Pegar o livro sabendo que ele está na posição 47.</a:t>
            </a:r>
            <a:endParaRPr lang="en-US" sz="1434" dirty="0"/>
          </a:p>
        </p:txBody>
      </p:sp>
      <p:pic>
        <p:nvPicPr>
          <p:cNvPr id="8" name="Image 0" descr="line"/>
          <p:cNvPicPr>
            <a:picLocks noChangeAspect="1"/>
          </p:cNvPicPr>
          <p:nvPr/>
        </p:nvPicPr>
        <p:blipFill>
          <a:blip r:embed="rId3"/>
          <a:srcRect t="-39" b="-39"/>
          <a:stretch/>
        </p:blipFill>
        <p:spPr>
          <a:xfrm>
            <a:off x="1079500" y="4432697"/>
            <a:ext cx="2861667" cy="12700"/>
          </a:xfrm>
          <a:prstGeom prst="rect">
            <a:avLst/>
          </a:prstGeom>
        </p:spPr>
      </p:pic>
      <p:sp>
        <p:nvSpPr>
          <p:cNvPr id="9" name="Text 6"/>
          <p:cNvSpPr/>
          <p:nvPr/>
        </p:nvSpPr>
        <p:spPr>
          <a:xfrm>
            <a:off x="1079500" y="4546997"/>
            <a:ext cx="2947517" cy="228005"/>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IBM Plex Sans" pitchFamily="34" charset="0"/>
                <a:ea typeface="IBM Plex Sans" pitchFamily="34" charset="-122"/>
                <a:cs typeface="IBM Plex Sans" pitchFamily="34" charset="-120"/>
              </a:rPr>
              <a:t>Com 1 milhão de itens:</a:t>
            </a:r>
            <a:endParaRPr lang="en-US" sz="1159" dirty="0"/>
          </a:p>
        </p:txBody>
      </p:sp>
      <p:sp>
        <p:nvSpPr>
          <p:cNvPr id="10" name="Text 7"/>
          <p:cNvSpPr/>
          <p:nvPr/>
        </p:nvSpPr>
        <p:spPr>
          <a:xfrm>
            <a:off x="1079500" y="4851202"/>
            <a:ext cx="2947517" cy="329208"/>
          </a:xfrm>
          <a:prstGeom prst="rect">
            <a:avLst/>
          </a:prstGeom>
          <a:noFill/>
          <a:ln/>
        </p:spPr>
        <p:txBody>
          <a:bodyPr wrap="square" lIns="0" tIns="0" rIns="0" bIns="0" rtlCol="0" anchor="t">
            <a:normAutofit/>
          </a:bodyPr>
          <a:lstStyle/>
          <a:p>
            <a:pPr marL="0" indent="0" algn="l">
              <a:lnSpc>
                <a:spcPts val="2418"/>
              </a:lnSpc>
              <a:buNone/>
            </a:pPr>
            <a:r>
              <a:rPr lang="en-US" sz="1727" b="1" dirty="0">
                <a:solidFill>
                  <a:srgbClr val="A65A00"/>
                </a:solidFill>
                <a:latin typeface="Space Grotesk" pitchFamily="34" charset="0"/>
                <a:ea typeface="Space Grotesk" pitchFamily="34" charset="-122"/>
                <a:cs typeface="Space Grotesk" pitchFamily="34" charset="-120"/>
              </a:rPr>
              <a:t>1 passo</a:t>
            </a:r>
            <a:endParaRPr lang="en-US" sz="1727" dirty="0"/>
          </a:p>
        </p:txBody>
      </p:sp>
      <p:sp>
        <p:nvSpPr>
          <p:cNvPr id="11" name="Shape 8"/>
          <p:cNvSpPr/>
          <p:nvPr/>
        </p:nvSpPr>
        <p:spPr>
          <a:xfrm>
            <a:off x="4414242" y="2571452"/>
            <a:ext cx="3376116" cy="2847082"/>
          </a:xfrm>
          <a:prstGeom prst="roundRect">
            <a:avLst>
              <a:gd name="adj" fmla="val 4349"/>
            </a:avLst>
          </a:prstGeom>
          <a:solidFill>
            <a:srgbClr val="FFFDF8"/>
          </a:solidFill>
          <a:ln w="6350">
            <a:solidFill>
              <a:srgbClr val="E3DCCB"/>
            </a:solidFill>
            <a:prstDash val="solid"/>
          </a:ln>
        </p:spPr>
        <p:txBody>
          <a:bodyPr/>
          <a:lstStyle/>
          <a:p>
            <a:endParaRPr lang="pt-BR"/>
          </a:p>
        </p:txBody>
      </p:sp>
      <p:sp>
        <p:nvSpPr>
          <p:cNvPr id="12" name="Text 9"/>
          <p:cNvSpPr/>
          <p:nvPr/>
        </p:nvSpPr>
        <p:spPr>
          <a:xfrm>
            <a:off x="4671417" y="2828627"/>
            <a:ext cx="2947619" cy="613271"/>
          </a:xfrm>
          <a:prstGeom prst="rect">
            <a:avLst/>
          </a:prstGeom>
          <a:noFill/>
          <a:ln/>
        </p:spPr>
        <p:txBody>
          <a:bodyPr wrap="square" lIns="0" tIns="0" rIns="0" bIns="0" rtlCol="0" anchor="t">
            <a:normAutofit/>
          </a:bodyPr>
          <a:lstStyle/>
          <a:p>
            <a:pPr marL="0" indent="0" algn="l">
              <a:lnSpc>
                <a:spcPts val="4674"/>
              </a:lnSpc>
              <a:buNone/>
            </a:pPr>
            <a:r>
              <a:rPr lang="en-US" sz="4249" b="1" dirty="0">
                <a:solidFill>
                  <a:srgbClr val="2F5DB8"/>
                </a:solidFill>
                <a:latin typeface="Space Grotesk" pitchFamily="34" charset="0"/>
                <a:ea typeface="Space Grotesk" pitchFamily="34" charset="-122"/>
                <a:cs typeface="Space Grotesk" pitchFamily="34" charset="-120"/>
              </a:rPr>
              <a:t>O(n)</a:t>
            </a:r>
            <a:endParaRPr lang="en-US" sz="4249" dirty="0"/>
          </a:p>
        </p:txBody>
      </p:sp>
      <p:sp>
        <p:nvSpPr>
          <p:cNvPr id="13" name="Text 10"/>
          <p:cNvSpPr/>
          <p:nvPr/>
        </p:nvSpPr>
        <p:spPr>
          <a:xfrm>
            <a:off x="4671417" y="3518098"/>
            <a:ext cx="2947619" cy="22939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JetBrains Mono" pitchFamily="49" charset="0"/>
                <a:ea typeface="JetBrains Mono" pitchFamily="49" charset="-122"/>
                <a:cs typeface="JetBrains Mono" pitchFamily="49" charset="-120"/>
              </a:rPr>
              <a:t>LINEAR</a:t>
            </a:r>
            <a:endParaRPr lang="en-US" sz="1159" dirty="0"/>
          </a:p>
        </p:txBody>
      </p:sp>
      <p:sp>
        <p:nvSpPr>
          <p:cNvPr id="14" name="Text 11"/>
          <p:cNvSpPr/>
          <p:nvPr/>
        </p:nvSpPr>
        <p:spPr>
          <a:xfrm>
            <a:off x="4671417" y="3823692"/>
            <a:ext cx="2947619" cy="535583"/>
          </a:xfrm>
          <a:prstGeom prst="rect">
            <a:avLst/>
          </a:prstGeom>
          <a:noFill/>
          <a:ln/>
        </p:spPr>
        <p:txBody>
          <a:bodyPr wrap="square" lIns="0" tIns="0" rIns="0" bIns="0" rtlCol="0" anchor="t">
            <a:normAutofit/>
          </a:bodyPr>
          <a:lstStyle/>
          <a:p>
            <a:pPr marL="0" indent="0" algn="l">
              <a:lnSpc>
                <a:spcPts val="2008"/>
              </a:lnSpc>
              <a:buNone/>
            </a:pPr>
            <a:r>
              <a:rPr lang="en-US" sz="1434" dirty="0">
                <a:solidFill>
                  <a:srgbClr val="1A1D24"/>
                </a:solidFill>
                <a:latin typeface="IBM Plex Sans" pitchFamily="34" charset="0"/>
                <a:ea typeface="IBM Plex Sans" pitchFamily="34" charset="-122"/>
                <a:cs typeface="IBM Plex Sans" pitchFamily="34" charset="-120"/>
              </a:rPr>
              <a:t>Procurar o livro olhando um por um.</a:t>
            </a:r>
            <a:endParaRPr lang="en-US" sz="1434" dirty="0"/>
          </a:p>
        </p:txBody>
      </p:sp>
      <p:pic>
        <p:nvPicPr>
          <p:cNvPr id="15" name="Image 1" descr="line"/>
          <p:cNvPicPr>
            <a:picLocks noChangeAspect="1"/>
          </p:cNvPicPr>
          <p:nvPr/>
        </p:nvPicPr>
        <p:blipFill>
          <a:blip r:embed="rId3"/>
          <a:srcRect t="-35" b="-35"/>
          <a:stretch/>
        </p:blipFill>
        <p:spPr>
          <a:xfrm>
            <a:off x="4671417" y="4435475"/>
            <a:ext cx="2861766" cy="12700"/>
          </a:xfrm>
          <a:prstGeom prst="rect">
            <a:avLst/>
          </a:prstGeom>
        </p:spPr>
      </p:pic>
      <p:sp>
        <p:nvSpPr>
          <p:cNvPr id="16" name="Text 12"/>
          <p:cNvSpPr/>
          <p:nvPr/>
        </p:nvSpPr>
        <p:spPr>
          <a:xfrm>
            <a:off x="4671417" y="4549775"/>
            <a:ext cx="2947619" cy="22939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IBM Plex Sans" pitchFamily="34" charset="0"/>
                <a:ea typeface="IBM Plex Sans" pitchFamily="34" charset="-122"/>
                <a:cs typeface="IBM Plex Sans" pitchFamily="34" charset="-120"/>
              </a:rPr>
              <a:t>Com 1 milhão de itens:</a:t>
            </a:r>
            <a:endParaRPr lang="en-US" sz="1159" dirty="0"/>
          </a:p>
        </p:txBody>
      </p:sp>
      <p:sp>
        <p:nvSpPr>
          <p:cNvPr id="17" name="Text 13"/>
          <p:cNvSpPr/>
          <p:nvPr/>
        </p:nvSpPr>
        <p:spPr>
          <a:xfrm>
            <a:off x="4671417" y="4855369"/>
            <a:ext cx="2947619" cy="331391"/>
          </a:xfrm>
          <a:prstGeom prst="rect">
            <a:avLst/>
          </a:prstGeom>
          <a:noFill/>
          <a:ln/>
        </p:spPr>
        <p:txBody>
          <a:bodyPr wrap="square" lIns="0" tIns="0" rIns="0" bIns="0" rtlCol="0" anchor="t">
            <a:normAutofit/>
          </a:bodyPr>
          <a:lstStyle/>
          <a:p>
            <a:pPr marL="0" indent="0" algn="l">
              <a:lnSpc>
                <a:spcPts val="2418"/>
              </a:lnSpc>
              <a:buNone/>
            </a:pPr>
            <a:r>
              <a:rPr lang="en-US" sz="1727" b="1" dirty="0">
                <a:solidFill>
                  <a:srgbClr val="2F5DB8"/>
                </a:solidFill>
                <a:latin typeface="Space Grotesk" pitchFamily="34" charset="0"/>
                <a:ea typeface="Space Grotesk" pitchFamily="34" charset="-122"/>
                <a:cs typeface="Space Grotesk" pitchFamily="34" charset="-120"/>
              </a:rPr>
              <a:t>1 milhão de passos</a:t>
            </a:r>
            <a:endParaRPr lang="en-US" sz="1727" dirty="0"/>
          </a:p>
        </p:txBody>
      </p:sp>
      <p:sp>
        <p:nvSpPr>
          <p:cNvPr id="18" name="Shape 14"/>
          <p:cNvSpPr/>
          <p:nvPr/>
        </p:nvSpPr>
        <p:spPr>
          <a:xfrm>
            <a:off x="7999909" y="2571452"/>
            <a:ext cx="3376116" cy="2847082"/>
          </a:xfrm>
          <a:prstGeom prst="roundRect">
            <a:avLst>
              <a:gd name="adj" fmla="val 4349"/>
            </a:avLst>
          </a:prstGeom>
          <a:solidFill>
            <a:srgbClr val="FFFDF8"/>
          </a:solidFill>
          <a:ln w="6350">
            <a:solidFill>
              <a:srgbClr val="E3DCCB"/>
            </a:solidFill>
            <a:prstDash val="solid"/>
          </a:ln>
        </p:spPr>
        <p:txBody>
          <a:bodyPr/>
          <a:lstStyle/>
          <a:p>
            <a:endParaRPr lang="pt-BR"/>
          </a:p>
        </p:txBody>
      </p:sp>
      <p:sp>
        <p:nvSpPr>
          <p:cNvPr id="19" name="Text 15"/>
          <p:cNvSpPr/>
          <p:nvPr/>
        </p:nvSpPr>
        <p:spPr>
          <a:xfrm>
            <a:off x="8257084" y="2828627"/>
            <a:ext cx="2947619" cy="613271"/>
          </a:xfrm>
          <a:prstGeom prst="rect">
            <a:avLst/>
          </a:prstGeom>
          <a:noFill/>
          <a:ln/>
        </p:spPr>
        <p:txBody>
          <a:bodyPr wrap="square" lIns="0" tIns="0" rIns="0" bIns="0" rtlCol="0" anchor="t">
            <a:normAutofit/>
          </a:bodyPr>
          <a:lstStyle/>
          <a:p>
            <a:pPr marL="0" indent="0" algn="l">
              <a:lnSpc>
                <a:spcPts val="4674"/>
              </a:lnSpc>
              <a:buNone/>
            </a:pPr>
            <a:r>
              <a:rPr lang="en-US" sz="4249" b="1" dirty="0">
                <a:solidFill>
                  <a:srgbClr val="1A1D24"/>
                </a:solidFill>
                <a:latin typeface="Space Grotesk" pitchFamily="34" charset="0"/>
                <a:ea typeface="Space Grotesk" pitchFamily="34" charset="-122"/>
                <a:cs typeface="Space Grotesk" pitchFamily="34" charset="-120"/>
              </a:rPr>
              <a:t>O(n²)</a:t>
            </a:r>
            <a:endParaRPr lang="en-US" sz="4249" dirty="0"/>
          </a:p>
        </p:txBody>
      </p:sp>
      <p:sp>
        <p:nvSpPr>
          <p:cNvPr id="20" name="Text 16"/>
          <p:cNvSpPr/>
          <p:nvPr/>
        </p:nvSpPr>
        <p:spPr>
          <a:xfrm>
            <a:off x="8257084" y="3518098"/>
            <a:ext cx="2947619" cy="22939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JetBrains Mono" pitchFamily="49" charset="0"/>
                <a:ea typeface="JetBrains Mono" pitchFamily="49" charset="-122"/>
                <a:cs typeface="JetBrains Mono" pitchFamily="49" charset="-120"/>
              </a:rPr>
              <a:t>QUADRÁTICA</a:t>
            </a:r>
            <a:endParaRPr lang="en-US" sz="1159" dirty="0"/>
          </a:p>
        </p:txBody>
      </p:sp>
      <p:sp>
        <p:nvSpPr>
          <p:cNvPr id="21" name="Text 17"/>
          <p:cNvSpPr/>
          <p:nvPr/>
        </p:nvSpPr>
        <p:spPr>
          <a:xfrm>
            <a:off x="8257084" y="3823692"/>
            <a:ext cx="2947619" cy="535583"/>
          </a:xfrm>
          <a:prstGeom prst="rect">
            <a:avLst/>
          </a:prstGeom>
          <a:noFill/>
          <a:ln/>
        </p:spPr>
        <p:txBody>
          <a:bodyPr wrap="square" lIns="0" tIns="0" rIns="0" bIns="0" rtlCol="0" anchor="t">
            <a:normAutofit/>
          </a:bodyPr>
          <a:lstStyle/>
          <a:p>
            <a:pPr marL="0" indent="0" algn="l">
              <a:lnSpc>
                <a:spcPts val="2008"/>
              </a:lnSpc>
              <a:buNone/>
            </a:pPr>
            <a:r>
              <a:rPr lang="en-US" sz="1434" dirty="0">
                <a:solidFill>
                  <a:srgbClr val="1A1D24"/>
                </a:solidFill>
                <a:latin typeface="IBM Plex Sans" pitchFamily="34" charset="0"/>
                <a:ea typeface="IBM Plex Sans" pitchFamily="34" charset="-122"/>
                <a:cs typeface="IBM Plex Sans" pitchFamily="34" charset="-120"/>
              </a:rPr>
              <a:t>Comparar cada livro com todos os outros.</a:t>
            </a:r>
            <a:endParaRPr lang="en-US" sz="1434" dirty="0"/>
          </a:p>
        </p:txBody>
      </p:sp>
      <p:pic>
        <p:nvPicPr>
          <p:cNvPr id="22" name="Image 2" descr="line"/>
          <p:cNvPicPr>
            <a:picLocks noChangeAspect="1"/>
          </p:cNvPicPr>
          <p:nvPr/>
        </p:nvPicPr>
        <p:blipFill>
          <a:blip r:embed="rId3"/>
          <a:srcRect t="-35" b="-35"/>
          <a:stretch/>
        </p:blipFill>
        <p:spPr>
          <a:xfrm>
            <a:off x="8257084" y="4435475"/>
            <a:ext cx="2861766" cy="12700"/>
          </a:xfrm>
          <a:prstGeom prst="rect">
            <a:avLst/>
          </a:prstGeom>
        </p:spPr>
      </p:pic>
      <p:sp>
        <p:nvSpPr>
          <p:cNvPr id="23" name="Text 18"/>
          <p:cNvSpPr/>
          <p:nvPr/>
        </p:nvSpPr>
        <p:spPr>
          <a:xfrm>
            <a:off x="8257084" y="4549775"/>
            <a:ext cx="2947619" cy="22939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060"/>
                </a:solidFill>
                <a:latin typeface="IBM Plex Sans" pitchFamily="34" charset="0"/>
                <a:ea typeface="IBM Plex Sans" pitchFamily="34" charset="-122"/>
                <a:cs typeface="IBM Plex Sans" pitchFamily="34" charset="-120"/>
              </a:rPr>
              <a:t>Com 1 milhão de itens:</a:t>
            </a:r>
            <a:endParaRPr lang="en-US" sz="1159" dirty="0"/>
          </a:p>
        </p:txBody>
      </p:sp>
      <p:sp>
        <p:nvSpPr>
          <p:cNvPr id="24" name="Text 19"/>
          <p:cNvSpPr/>
          <p:nvPr/>
        </p:nvSpPr>
        <p:spPr>
          <a:xfrm>
            <a:off x="8257084" y="4855369"/>
            <a:ext cx="2947619" cy="331391"/>
          </a:xfrm>
          <a:prstGeom prst="rect">
            <a:avLst/>
          </a:prstGeom>
          <a:noFill/>
          <a:ln/>
        </p:spPr>
        <p:txBody>
          <a:bodyPr wrap="square" lIns="0" tIns="0" rIns="0" bIns="0" rtlCol="0" anchor="t">
            <a:normAutofit/>
          </a:bodyPr>
          <a:lstStyle/>
          <a:p>
            <a:pPr marL="0" indent="0" algn="l">
              <a:lnSpc>
                <a:spcPts val="2418"/>
              </a:lnSpc>
              <a:buNone/>
            </a:pPr>
            <a:r>
              <a:rPr lang="en-US" sz="1727" b="1" dirty="0">
                <a:solidFill>
                  <a:srgbClr val="1A1D24"/>
                </a:solidFill>
                <a:latin typeface="Space Grotesk" pitchFamily="34" charset="0"/>
                <a:ea typeface="Space Grotesk" pitchFamily="34" charset="-122"/>
                <a:cs typeface="Space Grotesk" pitchFamily="34" charset="-120"/>
              </a:rPr>
              <a:t>1 trilhão de passos</a:t>
            </a:r>
            <a:endParaRPr lang="en-US" sz="1727" dirty="0"/>
          </a:p>
        </p:txBody>
      </p:sp>
      <p:sp>
        <p:nvSpPr>
          <p:cNvPr id="25" name="Text 20"/>
          <p:cNvSpPr/>
          <p:nvPr/>
        </p:nvSpPr>
        <p:spPr>
          <a:xfrm>
            <a:off x="812800" y="5701109"/>
            <a:ext cx="10883392" cy="369491"/>
          </a:xfrm>
          <a:prstGeom prst="rect">
            <a:avLst/>
          </a:prstGeom>
          <a:noFill/>
          <a:ln/>
        </p:spPr>
        <p:txBody>
          <a:bodyPr wrap="square" lIns="0" tIns="0" rIns="0" bIns="0" rtlCol="0" anchor="t">
            <a:normAutofit/>
          </a:bodyPr>
          <a:lstStyle/>
          <a:p>
            <a:pPr marL="0" indent="0" algn="l">
              <a:lnSpc>
                <a:spcPts val="2721"/>
              </a:lnSpc>
              <a:buNone/>
            </a:pPr>
            <a:r>
              <a:rPr lang="en-US" sz="1944" dirty="0">
                <a:solidFill>
                  <a:srgbClr val="1A1D24"/>
                </a:solidFill>
                <a:latin typeface="Space Grotesk" pitchFamily="34" charset="0"/>
                <a:ea typeface="Space Grotesk" pitchFamily="34" charset="-122"/>
                <a:cs typeface="Space Grotesk" pitchFamily="34" charset="-120"/>
              </a:rPr>
              <a:t>O(1) não é instantâneo: é </a:t>
            </a:r>
            <a:r>
              <a:rPr lang="en-US" sz="1944" dirty="0">
                <a:solidFill>
                  <a:srgbClr val="A65A00"/>
                </a:solidFill>
                <a:latin typeface="Space Grotesk" pitchFamily="34" charset="0"/>
                <a:ea typeface="Space Grotesk" pitchFamily="34" charset="-122"/>
                <a:cs typeface="Space Grotesk" pitchFamily="34" charset="-120"/>
              </a:rPr>
              <a:t>não piorar</a:t>
            </a:r>
            <a:r>
              <a:rPr lang="en-US" sz="1944" dirty="0">
                <a:solidFill>
                  <a:srgbClr val="1A1D24"/>
                </a:solidFill>
                <a:latin typeface="Space Grotesk" pitchFamily="34" charset="0"/>
                <a:ea typeface="Space Grotesk" pitchFamily="34" charset="-122"/>
                <a:cs typeface="Space Grotesk" pitchFamily="34" charset="-120"/>
              </a:rPr>
              <a:t> quando os dados crescem.</a:t>
            </a:r>
            <a:endParaRPr lang="en-US" sz="19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A TÉCNICA</a:t>
            </a:r>
            <a:endParaRPr lang="en-US" sz="1300" dirty="0"/>
          </a:p>
        </p:txBody>
      </p:sp>
      <p:sp>
        <p:nvSpPr>
          <p:cNvPr id="3" name="Text 1"/>
          <p:cNvSpPr>
            <a:spLocks noGrp="1"/>
          </p:cNvSpPr>
          <p:nvPr>
            <p:ph type="title"/>
          </p:nvPr>
        </p:nvSpPr>
        <p:spPr>
          <a:xfrm>
            <a:off x="812800" y="13232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Hashmap + lista duplamente encadeada</a:t>
            </a:r>
            <a:endParaRPr lang="en-US" sz="3600" dirty="0"/>
          </a:p>
        </p:txBody>
      </p:sp>
      <p:sp>
        <p:nvSpPr>
          <p:cNvPr id="4" name="Shape 2"/>
          <p:cNvSpPr/>
          <p:nvPr/>
        </p:nvSpPr>
        <p:spPr>
          <a:xfrm>
            <a:off x="812800" y="2105521"/>
            <a:ext cx="5181600" cy="1229122"/>
          </a:xfrm>
          <a:prstGeom prst="roundRect">
            <a:avLst>
              <a:gd name="adj" fmla="val 8266"/>
            </a:avLst>
          </a:prstGeom>
          <a:solidFill>
            <a:srgbClr val="1C2230"/>
          </a:solidFill>
          <a:ln/>
        </p:spPr>
        <p:txBody>
          <a:bodyPr/>
          <a:lstStyle/>
          <a:p>
            <a:endParaRPr lang="pt-BR"/>
          </a:p>
        </p:txBody>
      </p:sp>
      <p:sp>
        <p:nvSpPr>
          <p:cNvPr id="5" name="Text 3"/>
          <p:cNvSpPr/>
          <p:nvPr/>
        </p:nvSpPr>
        <p:spPr>
          <a:xfrm>
            <a:off x="1066800" y="2308721"/>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Space Grotesk" pitchFamily="34" charset="0"/>
                <a:ea typeface="Space Grotesk" pitchFamily="34" charset="-122"/>
                <a:cs typeface="Space Grotesk" pitchFamily="34" charset="-120"/>
              </a:rPr>
              <a:t>Hashmap</a:t>
            </a:r>
            <a:endParaRPr lang="en-US" sz="1800" dirty="0"/>
          </a:p>
        </p:txBody>
      </p:sp>
      <p:sp>
        <p:nvSpPr>
          <p:cNvPr id="6" name="Text 4"/>
          <p:cNvSpPr/>
          <p:nvPr/>
        </p:nvSpPr>
        <p:spPr>
          <a:xfrm>
            <a:off x="1066800" y="2633762"/>
            <a:ext cx="4813808"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C"/>
                </a:solidFill>
                <a:latin typeface="IBM Plex Sans" pitchFamily="34" charset="0"/>
                <a:ea typeface="IBM Plex Sans" pitchFamily="34" charset="-122"/>
                <a:cs typeface="IBM Plex Sans" pitchFamily="34" charset="-120"/>
              </a:rPr>
              <a:t>Acha qualquer chave em O(1)… mas não sabe a ordem de uso.</a:t>
            </a:r>
            <a:endParaRPr lang="en-US" sz="1400" dirty="0"/>
          </a:p>
        </p:txBody>
      </p:sp>
      <p:sp>
        <p:nvSpPr>
          <p:cNvPr id="7" name="Shape 5"/>
          <p:cNvSpPr/>
          <p:nvPr/>
        </p:nvSpPr>
        <p:spPr>
          <a:xfrm>
            <a:off x="6197600" y="2105521"/>
            <a:ext cx="5181600" cy="1229122"/>
          </a:xfrm>
          <a:prstGeom prst="roundRect">
            <a:avLst>
              <a:gd name="adj" fmla="val 8266"/>
            </a:avLst>
          </a:prstGeom>
          <a:solidFill>
            <a:srgbClr val="1C2230"/>
          </a:solidFill>
          <a:ln/>
        </p:spPr>
        <p:txBody>
          <a:bodyPr/>
          <a:lstStyle/>
          <a:p>
            <a:endParaRPr lang="pt-BR"/>
          </a:p>
        </p:txBody>
      </p:sp>
      <p:sp>
        <p:nvSpPr>
          <p:cNvPr id="8" name="Text 6"/>
          <p:cNvSpPr/>
          <p:nvPr/>
        </p:nvSpPr>
        <p:spPr>
          <a:xfrm>
            <a:off x="6451600" y="2308721"/>
            <a:ext cx="481380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1EA"/>
                </a:solidFill>
                <a:latin typeface="Space Grotesk" pitchFamily="34" charset="0"/>
                <a:ea typeface="Space Grotesk" pitchFamily="34" charset="-122"/>
                <a:cs typeface="Space Grotesk" pitchFamily="34" charset="-120"/>
              </a:rPr>
              <a:t>Lista duplamente encadeada</a:t>
            </a:r>
            <a:endParaRPr lang="en-US" sz="1800" dirty="0"/>
          </a:p>
        </p:txBody>
      </p:sp>
      <p:sp>
        <p:nvSpPr>
          <p:cNvPr id="9" name="Text 7"/>
          <p:cNvSpPr/>
          <p:nvPr/>
        </p:nvSpPr>
        <p:spPr>
          <a:xfrm>
            <a:off x="6451600" y="2633762"/>
            <a:ext cx="481380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0CC"/>
                </a:solidFill>
                <a:latin typeface="IBM Plex Sans" pitchFamily="34" charset="0"/>
                <a:ea typeface="IBM Plex Sans" pitchFamily="34" charset="-122"/>
                <a:cs typeface="IBM Plex Sans" pitchFamily="34" charset="-120"/>
              </a:rPr>
              <a:t>Move e remove em O(1)… mas buscar é O(n).</a:t>
            </a:r>
            <a:endParaRPr lang="en-US" sz="1400" dirty="0"/>
          </a:p>
        </p:txBody>
      </p:sp>
      <p:sp>
        <p:nvSpPr>
          <p:cNvPr id="10" name="Text 8"/>
          <p:cNvSpPr/>
          <p:nvPr/>
        </p:nvSpPr>
        <p:spPr>
          <a:xfrm>
            <a:off x="819150" y="3638153"/>
            <a:ext cx="744240" cy="439341"/>
          </a:xfrm>
          <a:prstGeom prst="roundRect">
            <a:avLst>
              <a:gd name="adj" fmla="val 13008"/>
            </a:avLst>
          </a:prstGeom>
          <a:noFill/>
          <a:ln w="12700">
            <a:solidFill>
              <a:srgbClr val="4A5468"/>
            </a:solidFill>
            <a:prstDash val="dash"/>
          </a:ln>
        </p:spPr>
        <p:txBody>
          <a:bodyPr wrap="none" lIns="0" tIns="0" rIns="0" bIns="0" rtlCol="0" anchor="ctr">
            <a:normAutofit/>
          </a:bodyPr>
          <a:lstStyle/>
          <a:p>
            <a:pPr marL="0" indent="0" algn="ctr">
              <a:lnSpc>
                <a:spcPts val="1960"/>
              </a:lnSpc>
              <a:buNone/>
            </a:pPr>
            <a:r>
              <a:rPr lang="en-US" sz="1400" dirty="0">
                <a:solidFill>
                  <a:srgbClr val="B9C0CC"/>
                </a:solidFill>
                <a:latin typeface="JetBrains Mono" pitchFamily="49" charset="0"/>
                <a:ea typeface="JetBrains Mono" pitchFamily="49" charset="-122"/>
                <a:cs typeface="JetBrains Mono" pitchFamily="49" charset="-120"/>
              </a:rPr>
              <a:t>HEAD</a:t>
            </a:r>
            <a:endParaRPr lang="en-US" sz="1400" dirty="0"/>
          </a:p>
        </p:txBody>
      </p:sp>
      <p:sp>
        <p:nvSpPr>
          <p:cNvPr id="11" name="Text 9"/>
          <p:cNvSpPr/>
          <p:nvPr/>
        </p:nvSpPr>
        <p:spPr>
          <a:xfrm>
            <a:off x="1696740" y="3715643"/>
            <a:ext cx="2210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JetBrains Mono" pitchFamily="49" charset="0"/>
                <a:ea typeface="JetBrains Mono" pitchFamily="49" charset="-122"/>
                <a:cs typeface="JetBrains Mono" pitchFamily="49" charset="-120"/>
              </a:rPr>
              <a:t>⇄</a:t>
            </a:r>
            <a:endParaRPr lang="en-US" sz="1600" dirty="0"/>
          </a:p>
        </p:txBody>
      </p:sp>
      <p:sp>
        <p:nvSpPr>
          <p:cNvPr id="12" name="Text 10"/>
          <p:cNvSpPr/>
          <p:nvPr/>
        </p:nvSpPr>
        <p:spPr>
          <a:xfrm>
            <a:off x="1993999" y="3626743"/>
            <a:ext cx="528340" cy="462260"/>
          </a:xfrm>
          <a:prstGeom prst="roundRect">
            <a:avLst>
              <a:gd name="adj" fmla="val 13737"/>
            </a:avLst>
          </a:prstGeom>
          <a:solidFill>
            <a:srgbClr val="F2A541"/>
          </a:solidFill>
          <a:ln/>
        </p:spPr>
        <p:txBody>
          <a:bodyPr wrap="none" lIns="0" tIns="0" rIns="0" bIns="0" rtlCol="0" anchor="ctr">
            <a:normAutofit/>
          </a:bodyPr>
          <a:lstStyle/>
          <a:p>
            <a:pPr marL="0" indent="0" algn="ctr">
              <a:lnSpc>
                <a:spcPts val="2240"/>
              </a:lnSpc>
              <a:buNone/>
            </a:pPr>
            <a:r>
              <a:rPr lang="en-US" sz="1600" dirty="0">
                <a:solidFill>
                  <a:srgbClr val="12161F"/>
                </a:solidFill>
                <a:latin typeface="JetBrains Mono" pitchFamily="49" charset="0"/>
                <a:ea typeface="JetBrains Mono" pitchFamily="49" charset="-122"/>
                <a:cs typeface="JetBrains Mono" pitchFamily="49" charset="-120"/>
              </a:rPr>
              <a:t>3</a:t>
            </a:r>
            <a:endParaRPr lang="en-US" sz="1600" dirty="0"/>
          </a:p>
        </p:txBody>
      </p:sp>
      <p:sp>
        <p:nvSpPr>
          <p:cNvPr id="13" name="Text 11"/>
          <p:cNvSpPr/>
          <p:nvPr/>
        </p:nvSpPr>
        <p:spPr>
          <a:xfrm>
            <a:off x="2649339" y="3715643"/>
            <a:ext cx="2210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JetBrains Mono" pitchFamily="49" charset="0"/>
                <a:ea typeface="JetBrains Mono" pitchFamily="49" charset="-122"/>
                <a:cs typeface="JetBrains Mono" pitchFamily="49" charset="-120"/>
              </a:rPr>
              <a:t>⇄</a:t>
            </a:r>
            <a:endParaRPr lang="en-US" sz="1600" dirty="0"/>
          </a:p>
        </p:txBody>
      </p:sp>
      <p:sp>
        <p:nvSpPr>
          <p:cNvPr id="14" name="Text 12"/>
          <p:cNvSpPr/>
          <p:nvPr/>
        </p:nvSpPr>
        <p:spPr>
          <a:xfrm>
            <a:off x="2946598" y="3626743"/>
            <a:ext cx="528340" cy="462260"/>
          </a:xfrm>
          <a:prstGeom prst="roundRect">
            <a:avLst>
              <a:gd name="adj" fmla="val 13737"/>
            </a:avLst>
          </a:prstGeom>
          <a:solidFill>
            <a:srgbClr val="2A3242"/>
          </a:solidFill>
          <a:ln/>
        </p:spPr>
        <p:txBody>
          <a:bodyPr wrap="none" lIns="0" tIns="0" rIns="0" bIns="0" rtlCol="0" anchor="ctr">
            <a:normAutofit/>
          </a:bodyPr>
          <a:lstStyle/>
          <a:p>
            <a:pPr marL="0" indent="0" algn="ctr">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1</a:t>
            </a:r>
            <a:endParaRPr lang="en-US" sz="1600" dirty="0"/>
          </a:p>
        </p:txBody>
      </p:sp>
      <p:sp>
        <p:nvSpPr>
          <p:cNvPr id="15" name="Text 13"/>
          <p:cNvSpPr/>
          <p:nvPr/>
        </p:nvSpPr>
        <p:spPr>
          <a:xfrm>
            <a:off x="3601938" y="3715643"/>
            <a:ext cx="2210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JetBrains Mono" pitchFamily="49" charset="0"/>
                <a:ea typeface="JetBrains Mono" pitchFamily="49" charset="-122"/>
                <a:cs typeface="JetBrains Mono" pitchFamily="49" charset="-120"/>
              </a:rPr>
              <a:t>⇄</a:t>
            </a:r>
            <a:endParaRPr lang="en-US" sz="1600" dirty="0"/>
          </a:p>
        </p:txBody>
      </p:sp>
      <p:sp>
        <p:nvSpPr>
          <p:cNvPr id="16" name="Text 14"/>
          <p:cNvSpPr/>
          <p:nvPr/>
        </p:nvSpPr>
        <p:spPr>
          <a:xfrm>
            <a:off x="3905548" y="3620393"/>
            <a:ext cx="541040" cy="474960"/>
          </a:xfrm>
          <a:prstGeom prst="roundRect">
            <a:avLst>
              <a:gd name="adj" fmla="val 12033"/>
            </a:avLst>
          </a:prstGeom>
          <a:solidFill>
            <a:srgbClr val="2A3242"/>
          </a:solidFill>
          <a:ln w="12700">
            <a:solidFill>
              <a:srgbClr val="6E9BF5"/>
            </a:solidFill>
            <a:prstDash val="solid"/>
          </a:ln>
        </p:spPr>
        <p:txBody>
          <a:bodyPr wrap="none" lIns="0" tIns="0" rIns="0" bIns="0" rtlCol="0" anchor="ctr">
            <a:normAutofit/>
          </a:bodyPr>
          <a:lstStyle/>
          <a:p>
            <a:pPr marL="0" indent="0" algn="ctr">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2</a:t>
            </a:r>
            <a:endParaRPr lang="en-US" sz="1600" dirty="0"/>
          </a:p>
        </p:txBody>
      </p:sp>
      <p:sp>
        <p:nvSpPr>
          <p:cNvPr id="17" name="Text 15"/>
          <p:cNvSpPr/>
          <p:nvPr/>
        </p:nvSpPr>
        <p:spPr>
          <a:xfrm>
            <a:off x="4579938" y="3715643"/>
            <a:ext cx="2210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JetBrains Mono" pitchFamily="49" charset="0"/>
                <a:ea typeface="JetBrains Mono" pitchFamily="49" charset="-122"/>
                <a:cs typeface="JetBrains Mono" pitchFamily="49" charset="-120"/>
              </a:rPr>
              <a:t>⇄</a:t>
            </a:r>
            <a:endParaRPr lang="en-US" sz="1600" dirty="0"/>
          </a:p>
        </p:txBody>
      </p:sp>
      <p:sp>
        <p:nvSpPr>
          <p:cNvPr id="18" name="Text 16"/>
          <p:cNvSpPr/>
          <p:nvPr/>
        </p:nvSpPr>
        <p:spPr>
          <a:xfrm>
            <a:off x="4883547" y="3638153"/>
            <a:ext cx="744240" cy="439341"/>
          </a:xfrm>
          <a:prstGeom prst="roundRect">
            <a:avLst>
              <a:gd name="adj" fmla="val 13008"/>
            </a:avLst>
          </a:prstGeom>
          <a:noFill/>
          <a:ln w="12700">
            <a:solidFill>
              <a:srgbClr val="4A5468"/>
            </a:solidFill>
            <a:prstDash val="dash"/>
          </a:ln>
        </p:spPr>
        <p:txBody>
          <a:bodyPr wrap="none" lIns="0" tIns="0" rIns="0" bIns="0" rtlCol="0" anchor="ctr">
            <a:normAutofit/>
          </a:bodyPr>
          <a:lstStyle/>
          <a:p>
            <a:pPr marL="0" indent="0" algn="ctr">
              <a:lnSpc>
                <a:spcPts val="1960"/>
              </a:lnSpc>
              <a:buNone/>
            </a:pPr>
            <a:r>
              <a:rPr lang="en-US" sz="1400" dirty="0">
                <a:solidFill>
                  <a:srgbClr val="B9C0CC"/>
                </a:solidFill>
                <a:latin typeface="JetBrains Mono" pitchFamily="49" charset="0"/>
                <a:ea typeface="JetBrains Mono" pitchFamily="49" charset="-122"/>
                <a:cs typeface="JetBrains Mono" pitchFamily="49" charset="-120"/>
              </a:rPr>
              <a:t>TAIL</a:t>
            </a:r>
            <a:endParaRPr lang="en-US" sz="1400" dirty="0"/>
          </a:p>
        </p:txBody>
      </p:sp>
      <p:sp>
        <p:nvSpPr>
          <p:cNvPr id="19" name="Text 17"/>
          <p:cNvSpPr/>
          <p:nvPr/>
        </p:nvSpPr>
        <p:spPr>
          <a:xfrm>
            <a:off x="5964337" y="3742333"/>
            <a:ext cx="320956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JetBrains Mono" pitchFamily="49" charset="0"/>
                <a:ea typeface="JetBrains Mono" pitchFamily="49" charset="-122"/>
                <a:cs typeface="JetBrains Mono" pitchFamily="49" charset="-120"/>
              </a:rPr>
              <a:t>map = {1: nó, 2: nó, 3: nó}</a:t>
            </a:r>
            <a:endParaRPr lang="en-US" sz="1300" dirty="0"/>
          </a:p>
        </p:txBody>
      </p:sp>
      <p:sp>
        <p:nvSpPr>
          <p:cNvPr id="20" name="Text 18"/>
          <p:cNvSpPr/>
          <p:nvPr/>
        </p:nvSpPr>
        <p:spPr>
          <a:xfrm>
            <a:off x="812800" y="420330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541"/>
                </a:solidFill>
                <a:latin typeface="JetBrains Mono" pitchFamily="49" charset="0"/>
                <a:ea typeface="JetBrains Mono" pitchFamily="49" charset="-122"/>
                <a:cs typeface="JetBrains Mono" pitchFamily="49" charset="-120"/>
              </a:rPr>
              <a:t>3 = mais recente</a:t>
            </a:r>
            <a:r>
              <a:rPr lang="en-US" sz="1200" dirty="0">
                <a:solidFill>
                  <a:srgbClr val="B9C0CC"/>
                </a:solidFill>
                <a:latin typeface="JetBrains Mono" pitchFamily="49" charset="0"/>
                <a:ea typeface="JetBrains Mono" pitchFamily="49" charset="-122"/>
                <a:cs typeface="JetBrains Mono" pitchFamily="49" charset="-120"/>
              </a:rPr>
              <a:t> · </a:t>
            </a:r>
            <a:r>
              <a:rPr lang="en-US" sz="1200" dirty="0">
                <a:solidFill>
                  <a:srgbClr val="6E9BF5"/>
                </a:solidFill>
                <a:latin typeface="JetBrains Mono" pitchFamily="49" charset="0"/>
                <a:ea typeface="JetBrains Mono" pitchFamily="49" charset="-122"/>
                <a:cs typeface="JetBrains Mono" pitchFamily="49" charset="-120"/>
              </a:rPr>
              <a:t>2 = próximo a sair</a:t>
            </a:r>
            <a:endParaRPr lang="en-US" sz="1200" dirty="0"/>
          </a:p>
        </p:txBody>
      </p:sp>
      <p:sp>
        <p:nvSpPr>
          <p:cNvPr id="21" name="Text 19"/>
          <p:cNvSpPr/>
          <p:nvPr/>
        </p:nvSpPr>
        <p:spPr>
          <a:xfrm>
            <a:off x="812800" y="4696023"/>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4F1EA"/>
                </a:solidFill>
                <a:latin typeface="Space Grotesk" pitchFamily="34" charset="0"/>
                <a:ea typeface="Space Grotesk" pitchFamily="34" charset="-122"/>
                <a:cs typeface="Space Grotesk" pitchFamily="34" charset="-120"/>
              </a:rPr>
              <a:t>Cada estrutura cobre exatamente a fraqueza da outra.</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A54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1A1D24"/>
                </a:solidFill>
                <a:latin typeface="JetBrains Mono" pitchFamily="49" charset="0"/>
                <a:ea typeface="JetBrains Mono" pitchFamily="49" charset="-122"/>
                <a:cs typeface="JetBrains Mono" pitchFamily="49" charset="-120"/>
              </a:rPr>
              <a:t>EXERCÍCIO</a:t>
            </a:r>
            <a:endParaRPr lang="en-US" sz="1300" dirty="0"/>
          </a:p>
        </p:txBody>
      </p:sp>
      <p:sp>
        <p:nvSpPr>
          <p:cNvPr id="3" name="Text 1"/>
          <p:cNvSpPr>
            <a:spLocks noGrp="1"/>
          </p:cNvSpPr>
          <p:nvPr>
            <p:ph type="title"/>
          </p:nvPr>
        </p:nvSpPr>
        <p:spPr>
          <a:xfrm>
            <a:off x="812800" y="1348680"/>
            <a:ext cx="10883392" cy="5842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A1D24"/>
                </a:solidFill>
                <a:latin typeface="Space Grotesk" pitchFamily="34" charset="0"/>
                <a:ea typeface="Space Grotesk" pitchFamily="34" charset="-122"/>
                <a:cs typeface="Space Grotesk" pitchFamily="34" charset="-120"/>
              </a:rPr>
              <a:t>Implemente um LRUCache</a:t>
            </a:r>
            <a:endParaRPr lang="en-US" sz="4000" dirty="0"/>
          </a:p>
        </p:txBody>
      </p:sp>
      <p:sp>
        <p:nvSpPr>
          <p:cNvPr id="4" name="Text 2"/>
          <p:cNvSpPr/>
          <p:nvPr/>
        </p:nvSpPr>
        <p:spPr>
          <a:xfrm>
            <a:off x="812800" y="2212280"/>
            <a:ext cx="494461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A1D24"/>
                </a:solidFill>
                <a:latin typeface="IBM Plex Sans" pitchFamily="34" charset="0"/>
                <a:ea typeface="IBM Plex Sans" pitchFamily="34" charset="-122"/>
                <a:cs typeface="IBM Plex Sans" pitchFamily="34" charset="-120"/>
              </a:rPr>
              <a:t>LRUCache(capacity)</a:t>
            </a:r>
            <a:r>
              <a:rPr lang="en-US" sz="1600" dirty="0">
                <a:solidFill>
                  <a:srgbClr val="1A1D24"/>
                </a:solidFill>
                <a:latin typeface="IBM Plex Sans" pitchFamily="34" charset="0"/>
                <a:ea typeface="IBM Plex Sans" pitchFamily="34" charset="-122"/>
                <a:cs typeface="IBM Plex Sans" pitchFamily="34" charset="-120"/>
              </a:rPr>
              <a:t> — cria o cache com tamanho fixo</a:t>
            </a:r>
            <a:endParaRPr lang="en-US" sz="1600" dirty="0"/>
          </a:p>
        </p:txBody>
      </p:sp>
      <p:sp>
        <p:nvSpPr>
          <p:cNvPr id="5" name="Text 3"/>
          <p:cNvSpPr/>
          <p:nvPr/>
        </p:nvSpPr>
        <p:spPr>
          <a:xfrm>
            <a:off x="812800" y="2908201"/>
            <a:ext cx="494461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A1D24"/>
                </a:solidFill>
                <a:latin typeface="IBM Plex Sans" pitchFamily="34" charset="0"/>
                <a:ea typeface="IBM Plex Sans" pitchFamily="34" charset="-122"/>
                <a:cs typeface="IBM Plex Sans" pitchFamily="34" charset="-120"/>
              </a:rPr>
              <a:t>get(key)</a:t>
            </a:r>
            <a:r>
              <a:rPr lang="en-US" sz="1600" dirty="0">
                <a:solidFill>
                  <a:srgbClr val="1A1D24"/>
                </a:solidFill>
                <a:latin typeface="IBM Plex Sans" pitchFamily="34" charset="0"/>
                <a:ea typeface="IBM Plex Sans" pitchFamily="34" charset="-122"/>
                <a:cs typeface="IBM Plex Sans" pitchFamily="34" charset="-120"/>
              </a:rPr>
              <a:t> — devolve o valor, ou -1 se não existir</a:t>
            </a:r>
            <a:endParaRPr lang="en-US" sz="1600" dirty="0"/>
          </a:p>
        </p:txBody>
      </p:sp>
      <p:sp>
        <p:nvSpPr>
          <p:cNvPr id="6" name="Text 4"/>
          <p:cNvSpPr/>
          <p:nvPr/>
        </p:nvSpPr>
        <p:spPr>
          <a:xfrm>
            <a:off x="812800" y="3319661"/>
            <a:ext cx="4944618"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A1D24"/>
                </a:solidFill>
                <a:latin typeface="IBM Plex Sans" pitchFamily="34" charset="0"/>
                <a:ea typeface="IBM Plex Sans" pitchFamily="34" charset="-122"/>
                <a:cs typeface="IBM Plex Sans" pitchFamily="34" charset="-120"/>
              </a:rPr>
              <a:t>put(key, value)</a:t>
            </a:r>
            <a:r>
              <a:rPr lang="en-US" sz="1600" dirty="0">
                <a:solidFill>
                  <a:srgbClr val="1A1D24"/>
                </a:solidFill>
                <a:latin typeface="IBM Plex Sans" pitchFamily="34" charset="0"/>
                <a:ea typeface="IBM Plex Sans" pitchFamily="34" charset="-122"/>
                <a:cs typeface="IBM Plex Sans" pitchFamily="34" charset="-120"/>
              </a:rPr>
              <a:t> — insere ou atualiza; se estourar, remove o menos recente</a:t>
            </a:r>
            <a:endParaRPr lang="en-US" sz="1600" dirty="0"/>
          </a:p>
        </p:txBody>
      </p:sp>
      <p:sp>
        <p:nvSpPr>
          <p:cNvPr id="7" name="Text 5"/>
          <p:cNvSpPr/>
          <p:nvPr/>
        </p:nvSpPr>
        <p:spPr>
          <a:xfrm>
            <a:off x="812800" y="4015581"/>
            <a:ext cx="4944618"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A1D24"/>
                </a:solidFill>
                <a:latin typeface="IBM Plex Sans" pitchFamily="34" charset="0"/>
                <a:ea typeface="IBM Plex Sans" pitchFamily="34" charset="-122"/>
                <a:cs typeface="IBM Plex Sans" pitchFamily="34" charset="-120"/>
              </a:rPr>
              <a:t>Regra: get e put em O(1).</a:t>
            </a:r>
            <a:endParaRPr lang="en-US" sz="1600" dirty="0"/>
          </a:p>
        </p:txBody>
      </p:sp>
      <p:sp>
        <p:nvSpPr>
          <p:cNvPr id="8" name="Shape 6"/>
          <p:cNvSpPr/>
          <p:nvPr/>
        </p:nvSpPr>
        <p:spPr>
          <a:xfrm>
            <a:off x="5969000" y="2212280"/>
            <a:ext cx="5410200" cy="3489920"/>
          </a:xfrm>
          <a:prstGeom prst="roundRect">
            <a:avLst>
              <a:gd name="adj" fmla="val 3639"/>
            </a:avLst>
          </a:prstGeom>
          <a:solidFill>
            <a:srgbClr val="12161F"/>
          </a:solidFill>
          <a:ln/>
        </p:spPr>
        <p:txBody>
          <a:bodyPr/>
          <a:lstStyle/>
          <a:p>
            <a:endParaRPr lang="pt-BR"/>
          </a:p>
        </p:txBody>
      </p:sp>
      <p:sp>
        <p:nvSpPr>
          <p:cNvPr id="9" name="Text 7"/>
          <p:cNvSpPr/>
          <p:nvPr/>
        </p:nvSpPr>
        <p:spPr>
          <a:xfrm>
            <a:off x="6273800" y="2466280"/>
            <a:ext cx="4944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JetBrains Mono" pitchFamily="49" charset="0"/>
                <a:ea typeface="JetBrains Mono" pitchFamily="49" charset="-122"/>
                <a:cs typeface="JetBrains Mono" pitchFamily="49" charset="-120"/>
              </a:rPr>
              <a:t># qual a saída?</a:t>
            </a:r>
            <a:endParaRPr lang="en-US" sz="1200" dirty="0"/>
          </a:p>
        </p:txBody>
      </p:sp>
      <p:sp>
        <p:nvSpPr>
          <p:cNvPr id="10" name="Text 8"/>
          <p:cNvSpPr/>
          <p:nvPr/>
        </p:nvSpPr>
        <p:spPr>
          <a:xfrm>
            <a:off x="6273800" y="2781201"/>
            <a:ext cx="4944618" cy="26924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 = LRUCache(2)</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c.put(1, 1)</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c.put(2, 2)</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c.get(1)</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c.put(3, 3)</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c.get(2)</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c.put(4, 4)</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c.get(1)</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c.get(3)</a:t>
            </a:r>
            <a:endParaRPr lang="en-US" sz="1400" dirty="0"/>
          </a:p>
          <a:p>
            <a:pPr marL="0" indent="0" algn="l">
              <a:lnSpc>
                <a:spcPts val="2100"/>
              </a:lnSpc>
              <a:buNone/>
            </a:pPr>
            <a:r>
              <a:rPr lang="en-US" sz="1400" dirty="0">
                <a:solidFill>
                  <a:srgbClr val="E8E4DA"/>
                </a:solidFill>
                <a:latin typeface="JetBrains Mono" pitchFamily="49" charset="0"/>
                <a:ea typeface="JetBrains Mono" pitchFamily="49" charset="-122"/>
                <a:cs typeface="JetBrains Mono" pitchFamily="49" charset="-120"/>
              </a:rPr>
              <a:t>c.get(4)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A65A00"/>
                </a:solidFill>
                <a:latin typeface="JetBrains Mono" pitchFamily="49" charset="0"/>
                <a:ea typeface="JetBrains Mono" pitchFamily="49" charset="-122"/>
                <a:cs typeface="JetBrains Mono" pitchFamily="49" charset="-120"/>
              </a:rPr>
              <a:t>RESOLUÇÃO · PASSO A PASSO</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A1D24"/>
                </a:solidFill>
                <a:latin typeface="Space Grotesk" pitchFamily="34" charset="0"/>
                <a:ea typeface="Space Grotesk" pitchFamily="34" charset="-122"/>
                <a:cs typeface="Space Grotesk" pitchFamily="34" charset="-120"/>
              </a:rPr>
              <a:t>Saída: 1, -1, -1, 3, 4</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67421"/>
          <a:ext cx="10553700" cy="3859609"/>
        </p:xfrm>
        <a:graphic>
          <a:graphicData uri="http://schemas.openxmlformats.org/drawingml/2006/table">
            <a:tbl>
              <a:tblPr/>
              <a:tblGrid>
                <a:gridCol w="2955036">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A1D24"/>
                          </a:solidFill>
                          <a:latin typeface="JetBrains Mono" pitchFamily="49" charset="0"/>
                          <a:ea typeface="JetBrains Mono" pitchFamily="49" charset="-122"/>
                          <a:cs typeface="JetBrains Mono" pitchFamily="49" charset="-120"/>
                        </a:rPr>
                        <a:t>operação</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960"/>
                        </a:lnSpc>
                        <a:buNone/>
                      </a:pPr>
                      <a:r>
                        <a:rPr lang="en-US" sz="1400" b="1" dirty="0">
                          <a:solidFill>
                            <a:srgbClr val="1A1D24"/>
                          </a:solidFill>
                          <a:latin typeface="JetBrains Mono" pitchFamily="49" charset="0"/>
                          <a:ea typeface="JetBrains Mono" pitchFamily="49" charset="-122"/>
                          <a:cs typeface="JetBrains Mono" pitchFamily="49" charset="-120"/>
                        </a:rPr>
                        <a:t>retorno</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960"/>
                        </a:lnSpc>
                        <a:buNone/>
                      </a:pPr>
                      <a:r>
                        <a:rPr lang="en-US" sz="1400" b="1" dirty="0">
                          <a:solidFill>
                            <a:srgbClr val="1A1D24"/>
                          </a:solidFill>
                          <a:latin typeface="JetBrains Mono" pitchFamily="49" charset="0"/>
                          <a:ea typeface="JetBrains Mono" pitchFamily="49" charset="-122"/>
                          <a:cs typeface="JetBrains Mono" pitchFamily="49" charset="-120"/>
                        </a:rPr>
                        <a:t>cache (recente → antigo)</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960"/>
                        </a:lnSpc>
                        <a:buNone/>
                      </a:pPr>
                      <a:r>
                        <a:rPr lang="en-US" sz="1400" b="1" dirty="0">
                          <a:solidFill>
                            <a:srgbClr val="1A1D24"/>
                          </a:solidFill>
                          <a:latin typeface="JetBrains Mono" pitchFamily="49" charset="0"/>
                          <a:ea typeface="JetBrains Mono" pitchFamily="49" charset="-122"/>
                          <a:cs typeface="JetBrains Mono" pitchFamily="49" charset="-120"/>
                        </a:rPr>
                        <a:t>sai</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put(1, 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0A3"/>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0A3"/>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0A3"/>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0A3"/>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put(2, 2)</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[2, 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get(1)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8B598"/>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B598"/>
                      </a:solidFill>
                      <a:prstDash val="solid"/>
                      <a:round/>
                      <a:headEnd type="none" w="med" len="med"/>
                      <a:tailEnd type="none" w="med" len="med"/>
                    </a:lnB>
                    <a:solidFill>
                      <a:srgbClr val="FBE3BD"/>
                    </a:solidFill>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8B598"/>
                      </a:solidFill>
                      <a:prstDash val="solid"/>
                      <a:round/>
                      <a:headEnd type="none" w="med" len="med"/>
                      <a:tailEnd type="none" w="med" len="med"/>
                    </a:lnL>
                    <a:lnR w="12700" cap="flat" cmpd="sng" algn="ctr">
                      <a:solidFill>
                        <a:srgbClr val="C8B598"/>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B598"/>
                      </a:solidFill>
                      <a:prstDash val="solid"/>
                      <a:round/>
                      <a:headEnd type="none" w="med" len="med"/>
                      <a:tailEnd type="none" w="med" len="med"/>
                    </a:lnB>
                    <a:solidFill>
                      <a:srgbClr val="FBE3BD"/>
                    </a:solidFill>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[1, 2]</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8B598"/>
                      </a:solidFill>
                      <a:prstDash val="solid"/>
                      <a:round/>
                      <a:headEnd type="none" w="med" len="med"/>
                      <a:tailEnd type="none" w="med" len="med"/>
                    </a:lnL>
                    <a:lnR w="12700" cap="flat" cmpd="sng" algn="ctr">
                      <a:solidFill>
                        <a:srgbClr val="C8B598"/>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B598"/>
                      </a:solidFill>
                      <a:prstDash val="solid"/>
                      <a:round/>
                      <a:headEnd type="none" w="med" len="med"/>
                      <a:tailEnd type="none" w="med" len="med"/>
                    </a:lnB>
                    <a:solidFill>
                      <a:srgbClr val="FBE3BD"/>
                    </a:solidFill>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 (1 sobe)</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8B598"/>
                      </a:solidFill>
                      <a:prstDash val="solid"/>
                      <a:round/>
                      <a:headEnd type="none" w="med" len="med"/>
                      <a:tailEnd type="none" w="med" len="med"/>
                    </a:lnL>
                    <a:lnR w="12700" cap="flat" cmpd="sng" algn="ctr">
                      <a:solidFill>
                        <a:srgbClr val="C8B598"/>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8B598"/>
                      </a:solidFill>
                      <a:prstDash val="solid"/>
                      <a:round/>
                      <a:headEnd type="none" w="med" len="med"/>
                      <a:tailEnd type="none" w="med" len="med"/>
                    </a:lnB>
                    <a:solidFill>
                      <a:srgbClr val="FBE3BD"/>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put(3, 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B598"/>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B598"/>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[3, 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B598"/>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2F5DB8"/>
                          </a:solidFill>
                          <a:latin typeface="JetBrains Mono" pitchFamily="49" charset="0"/>
                          <a:ea typeface="JetBrains Mono" pitchFamily="49" charset="-122"/>
                          <a:cs typeface="JetBrains Mono" pitchFamily="49" charset="-120"/>
                        </a:rPr>
                        <a:t>2</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8B598"/>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get(2)</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[3, 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put(4, 4)</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[4, 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2F5DB8"/>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get(1)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-1</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[4, 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7"/>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get(3)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[3, 4]</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8"/>
                  </a:ext>
                </a:extLst>
              </a:tr>
              <a:tr h="385961">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get(4)</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4</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[4, 3]</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1960"/>
                        </a:lnSpc>
                        <a:buNone/>
                      </a:pPr>
                      <a:r>
                        <a:rPr lang="en-US" sz="1400" dirty="0">
                          <a:solidFill>
                            <a:srgbClr val="1A1D24"/>
                          </a:solidFill>
                          <a:latin typeface="JetBrains Mono" pitchFamily="49" charset="0"/>
                          <a:ea typeface="JetBrains Mono" pitchFamily="49" charset="-122"/>
                          <a:cs typeface="JetBrains Mono" pitchFamily="49" charset="-120"/>
                        </a:rPr>
                        <a:t>—</a:t>
                      </a:r>
                      <a:endParaRPr lang="en-US" sz="1400" dirty="0">
                        <a:latin typeface="JetBrains Mono" charset="0"/>
                        <a:ea typeface="JetBrains Mono" charset="0"/>
                        <a:cs typeface="JetBrains Mono" charset="0"/>
                      </a:endParaRPr>
                    </a:p>
                  </a:txBody>
                  <a:tcPr marL="62230" marR="62230" marT="62230" marB="62230">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4F1EA"/>
                </a:solidFill>
                <a:latin typeface="Space Grotesk" pitchFamily="34" charset="0"/>
                <a:ea typeface="Space Grotesk" pitchFamily="34" charset="-122"/>
                <a:cs typeface="Space Grotesk" pitchFamily="34" charset="-120"/>
              </a:rPr>
              <a:t>Resolução em Python</a:t>
            </a:r>
            <a:endParaRPr lang="en-US" sz="2800" dirty="0"/>
          </a:p>
        </p:txBody>
      </p:sp>
      <p:sp>
        <p:nvSpPr>
          <p:cNvPr id="3" name="Text 1"/>
          <p:cNvSpPr/>
          <p:nvPr/>
        </p:nvSpPr>
        <p:spPr>
          <a:xfrm>
            <a:off x="812800" y="1203920"/>
            <a:ext cx="5181600" cy="4661694"/>
          </a:xfrm>
          <a:prstGeom prst="roundRect">
            <a:avLst>
              <a:gd name="adj" fmla="val 2179"/>
            </a:avLst>
          </a:prstGeom>
          <a:solidFill>
            <a:srgbClr val="1C2230"/>
          </a:solidFill>
          <a:ln/>
        </p:spPr>
        <p:txBody>
          <a:bodyPr wrap="square" lIns="173442" tIns="122642" rIns="30186" bIns="97242" rtlCol="0" anchor="t">
            <a:normAutofit fontScale="25000" lnSpcReduction="20000"/>
          </a:bodyPr>
          <a:lstStyle/>
          <a:p>
            <a:pPr marL="0" indent="0" algn="l">
              <a:lnSpc>
                <a:spcPts val="1560"/>
              </a:lnSpc>
              <a:buNone/>
            </a:pPr>
            <a:r>
              <a:rPr lang="en-US" sz="1200" dirty="0">
                <a:solidFill>
                  <a:srgbClr val="F2A541"/>
                </a:solidFill>
                <a:latin typeface="JetBrains Mono" pitchFamily="49" charset="0"/>
                <a:ea typeface="JetBrains Mono" pitchFamily="49" charset="-122"/>
                <a:cs typeface="JetBrains Mono" pitchFamily="49" charset="-120"/>
              </a:rPr>
              <a:t>class</a:t>
            </a:r>
            <a:r>
              <a:rPr lang="en-US" sz="1200" dirty="0">
                <a:solidFill>
                  <a:srgbClr val="E8E4DA"/>
                </a:solidFill>
                <a:latin typeface="JetBrains Mono" pitchFamily="49" charset="0"/>
                <a:ea typeface="JetBrains Mono" pitchFamily="49" charset="-122"/>
                <a:cs typeface="JetBrains Mono" pitchFamily="49" charset="-120"/>
              </a:rPr>
              <a:t>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__init__(self, key=0, val=0):</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self.key, self.val = key, val</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self.prev = self.next = None</a:t>
            </a:r>
            <a:endParaRPr lang="en-US" sz="1200" dirty="0"/>
          </a:p>
          <a:p>
            <a:pPr marL="0" indent="0" algn="l">
              <a:lnSpc>
                <a:spcPts val="1560"/>
              </a:lnSpc>
              <a:buNone/>
            </a:pPr>
            <a:endParaRPr lang="en-US" sz="1200" dirty="0"/>
          </a:p>
          <a:p>
            <a:pPr marL="0" indent="0" algn="l">
              <a:lnSpc>
                <a:spcPts val="1560"/>
              </a:lnSpc>
              <a:buNone/>
            </a:pPr>
            <a:r>
              <a:rPr lang="en-US" sz="1200" dirty="0">
                <a:solidFill>
                  <a:srgbClr val="F2A541"/>
                </a:solidFill>
                <a:latin typeface="JetBrains Mono" pitchFamily="49" charset="0"/>
                <a:ea typeface="JetBrains Mono" pitchFamily="49" charset="-122"/>
                <a:cs typeface="JetBrains Mono" pitchFamily="49" charset="-120"/>
              </a:rPr>
              <a:t>class</a:t>
            </a:r>
            <a:r>
              <a:rPr lang="en-US" sz="1200" dirty="0">
                <a:solidFill>
                  <a:srgbClr val="E8E4DA"/>
                </a:solidFill>
                <a:latin typeface="JetBrains Mono" pitchFamily="49" charset="0"/>
                <a:ea typeface="JetBrains Mono" pitchFamily="49" charset="-122"/>
                <a:cs typeface="JetBrains Mono" pitchFamily="49" charset="-120"/>
              </a:rPr>
              <a:t> LRUCache: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__init__(self, capacity):</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self.cap = capacity</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self.map = {}  </a:t>
            </a:r>
            <a:r>
              <a:rPr lang="en-US" sz="1200" dirty="0">
                <a:solidFill>
                  <a:srgbClr val="8A94A6"/>
                </a:solidFill>
                <a:latin typeface="JetBrains Mono" pitchFamily="49" charset="0"/>
                <a:ea typeface="JetBrains Mono" pitchFamily="49" charset="-122"/>
                <a:cs typeface="JetBrains Mono" pitchFamily="49" charset="-120"/>
              </a:rPr>
              <a:t># key -&gt; nó</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self.head, self.tail = Node(),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self.head.next = self.tail</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self.tail.prev = self.head</a:t>
            </a:r>
            <a:endParaRPr lang="en-US" sz="1200" dirty="0"/>
          </a:p>
          <a:p>
            <a:pPr marL="0" indent="0" algn="l">
              <a:lnSpc>
                <a:spcPts val="1560"/>
              </a:lnSpc>
              <a:buNone/>
            </a:pP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8FB3FF"/>
                </a:solidFill>
                <a:latin typeface="JetBrains Mono" pitchFamily="49" charset="0"/>
                <a:ea typeface="JetBrains Mono" pitchFamily="49" charset="-122"/>
                <a:cs typeface="JetBrains Mono" pitchFamily="49" charset="-120"/>
              </a:rPr>
              <a:t>_remove</a:t>
            </a:r>
            <a:r>
              <a:rPr lang="en-US" sz="1200" dirty="0">
                <a:solidFill>
                  <a:srgbClr val="E8E4DA"/>
                </a:solidFill>
                <a:latin typeface="JetBrains Mono" pitchFamily="49" charset="0"/>
                <a:ea typeface="JetBrains Mono" pitchFamily="49" charset="-122"/>
                <a:cs typeface="JetBrains Mono" pitchFamily="49" charset="-120"/>
              </a:rPr>
              <a:t>(self,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node.prev.next = node.next</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node.next.prev = node.prev</a:t>
            </a:r>
            <a:endParaRPr lang="en-US" sz="1200" dirty="0"/>
          </a:p>
          <a:p>
            <a:pPr marL="0" indent="0" algn="l">
              <a:lnSpc>
                <a:spcPts val="1560"/>
              </a:lnSpc>
              <a:buNone/>
            </a:pP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8FB3FF"/>
                </a:solidFill>
                <a:latin typeface="JetBrains Mono" pitchFamily="49" charset="0"/>
                <a:ea typeface="JetBrains Mono" pitchFamily="49" charset="-122"/>
                <a:cs typeface="JetBrains Mono" pitchFamily="49" charset="-120"/>
              </a:rPr>
              <a:t>_add_front</a:t>
            </a:r>
            <a:r>
              <a:rPr lang="en-US" sz="1200" dirty="0">
                <a:solidFill>
                  <a:srgbClr val="E8E4DA"/>
                </a:solidFill>
                <a:latin typeface="JetBrains Mono" pitchFamily="49" charset="0"/>
                <a:ea typeface="JetBrains Mono" pitchFamily="49" charset="-122"/>
                <a:cs typeface="JetBrains Mono" pitchFamily="49" charset="-120"/>
              </a:rPr>
              <a:t>(self,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node.next = self.head.next</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node.prev = self.head</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self.head.next.prev =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self.head.next = node</a:t>
            </a:r>
            <a:endParaRPr lang="en-US" sz="1200" dirty="0"/>
          </a:p>
        </p:txBody>
      </p:sp>
      <p:sp>
        <p:nvSpPr>
          <p:cNvPr id="4" name="Text 2"/>
          <p:cNvSpPr/>
          <p:nvPr/>
        </p:nvSpPr>
        <p:spPr>
          <a:xfrm>
            <a:off x="6197600" y="1203920"/>
            <a:ext cx="5181600" cy="4661694"/>
          </a:xfrm>
          <a:prstGeom prst="roundRect">
            <a:avLst>
              <a:gd name="adj" fmla="val 2179"/>
            </a:avLst>
          </a:prstGeom>
          <a:solidFill>
            <a:srgbClr val="1C2230"/>
          </a:solidFill>
          <a:ln/>
        </p:spPr>
        <p:txBody>
          <a:bodyPr wrap="square" lIns="173442" tIns="122642" rIns="30186" bIns="122642" rtlCol="0" anchor="t">
            <a:normAutofit/>
          </a:bodyPr>
          <a:lstStyle/>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8FB3FF"/>
                </a:solidFill>
                <a:latin typeface="JetBrains Mono" pitchFamily="49" charset="0"/>
                <a:ea typeface="JetBrains Mono" pitchFamily="49" charset="-122"/>
                <a:cs typeface="JetBrains Mono" pitchFamily="49" charset="-120"/>
              </a:rPr>
              <a:t>get</a:t>
            </a:r>
            <a:r>
              <a:rPr lang="en-US" sz="1200" dirty="0">
                <a:solidFill>
                  <a:srgbClr val="E8E4DA"/>
                </a:solidFill>
                <a:latin typeface="JetBrains Mono" pitchFamily="49" charset="0"/>
                <a:ea typeface="JetBrains Mono" pitchFamily="49" charset="-122"/>
                <a:cs typeface="JetBrains Mono" pitchFamily="49" charset="-120"/>
              </a:rPr>
              <a:t>(self, key):</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if</a:t>
            </a:r>
            <a:r>
              <a:rPr lang="en-US" sz="1200" dirty="0">
                <a:solidFill>
                  <a:srgbClr val="E8E4DA"/>
                </a:solidFill>
                <a:latin typeface="JetBrains Mono" pitchFamily="49" charset="0"/>
                <a:ea typeface="JetBrains Mono" pitchFamily="49" charset="-122"/>
                <a:cs typeface="JetBrains Mono" pitchFamily="49" charset="-120"/>
              </a:rPr>
              <a:t> key </a:t>
            </a:r>
            <a:r>
              <a:rPr lang="en-US" sz="1200" dirty="0">
                <a:solidFill>
                  <a:srgbClr val="F2A541"/>
                </a:solidFill>
                <a:latin typeface="JetBrains Mono" pitchFamily="49" charset="0"/>
                <a:ea typeface="JetBrains Mono" pitchFamily="49" charset="-122"/>
                <a:cs typeface="JetBrains Mono" pitchFamily="49" charset="-120"/>
              </a:rPr>
              <a:t>not in</a:t>
            </a:r>
            <a:r>
              <a:rPr lang="en-US" sz="1200" dirty="0">
                <a:solidFill>
                  <a:srgbClr val="E8E4DA"/>
                </a:solidFill>
                <a:latin typeface="JetBrains Mono" pitchFamily="49" charset="0"/>
                <a:ea typeface="JetBrains Mono" pitchFamily="49" charset="-122"/>
                <a:cs typeface="JetBrains Mono" pitchFamily="49" charset="-120"/>
              </a:rPr>
              <a:t> self.map:</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return</a:t>
            </a:r>
            <a:r>
              <a:rPr lang="en-US" sz="1200" dirty="0">
                <a:solidFill>
                  <a:srgbClr val="E8E4DA"/>
                </a:solidFill>
                <a:latin typeface="JetBrains Mono" pitchFamily="49" charset="0"/>
                <a:ea typeface="JetBrains Mono" pitchFamily="49" charset="-122"/>
                <a:cs typeface="JetBrains Mono" pitchFamily="49" charset="-120"/>
              </a:rPr>
              <a:t> -1</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 = self.map[key]</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self._remove(node)     </a:t>
            </a:r>
            <a:r>
              <a:rPr lang="en-US" sz="1200" dirty="0">
                <a:solidFill>
                  <a:srgbClr val="8A94A6"/>
                </a:solidFill>
                <a:latin typeface="JetBrains Mono" pitchFamily="49" charset="0"/>
                <a:ea typeface="JetBrains Mono" pitchFamily="49" charset="-122"/>
                <a:cs typeface="JetBrains Mono" pitchFamily="49" charset="-120"/>
              </a:rPr>
              <a:t># usou:</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self._add_front(node)  </a:t>
            </a:r>
            <a:r>
              <a:rPr lang="en-US" sz="1200" dirty="0">
                <a:solidFill>
                  <a:srgbClr val="8A94A6"/>
                </a:solidFill>
                <a:latin typeface="JetBrains Mono" pitchFamily="49" charset="0"/>
                <a:ea typeface="JetBrains Mono" pitchFamily="49" charset="-122"/>
                <a:cs typeface="JetBrains Mono" pitchFamily="49" charset="-120"/>
              </a:rPr>
              <a:t># vai pra frente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return</a:t>
            </a:r>
            <a:r>
              <a:rPr lang="en-US" sz="1200" dirty="0">
                <a:solidFill>
                  <a:srgbClr val="E8E4DA"/>
                </a:solidFill>
                <a:latin typeface="JetBrains Mono" pitchFamily="49" charset="0"/>
                <a:ea typeface="JetBrains Mono" pitchFamily="49" charset="-122"/>
                <a:cs typeface="JetBrains Mono" pitchFamily="49" charset="-120"/>
              </a:rPr>
              <a:t> node.val</a:t>
            </a:r>
            <a:endParaRPr lang="en-US" sz="1200" dirty="0"/>
          </a:p>
          <a:p>
            <a:pPr marL="0" indent="0" algn="l">
              <a:lnSpc>
                <a:spcPts val="1560"/>
              </a:lnSpc>
              <a:buNone/>
            </a:pP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def</a:t>
            </a: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8FB3FF"/>
                </a:solidFill>
                <a:latin typeface="JetBrains Mono" pitchFamily="49" charset="0"/>
                <a:ea typeface="JetBrains Mono" pitchFamily="49" charset="-122"/>
                <a:cs typeface="JetBrains Mono" pitchFamily="49" charset="-120"/>
              </a:rPr>
              <a:t>put</a:t>
            </a:r>
            <a:r>
              <a:rPr lang="en-US" sz="1200" dirty="0">
                <a:solidFill>
                  <a:srgbClr val="E8E4DA"/>
                </a:solidFill>
                <a:latin typeface="JetBrains Mono" pitchFamily="49" charset="0"/>
                <a:ea typeface="JetBrains Mono" pitchFamily="49" charset="-122"/>
                <a:cs typeface="JetBrains Mono" pitchFamily="49" charset="-120"/>
              </a:rPr>
              <a:t>(self, key, value):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if</a:t>
            </a:r>
            <a:r>
              <a:rPr lang="en-US" sz="1200" dirty="0">
                <a:solidFill>
                  <a:srgbClr val="E8E4DA"/>
                </a:solidFill>
                <a:latin typeface="JetBrains Mono" pitchFamily="49" charset="0"/>
                <a:ea typeface="JetBrains Mono" pitchFamily="49" charset="-122"/>
                <a:cs typeface="JetBrains Mono" pitchFamily="49" charset="-120"/>
              </a:rPr>
              <a:t> key </a:t>
            </a:r>
            <a:r>
              <a:rPr lang="en-US" sz="1200" dirty="0">
                <a:solidFill>
                  <a:srgbClr val="F2A541"/>
                </a:solidFill>
                <a:latin typeface="JetBrains Mono" pitchFamily="49" charset="0"/>
                <a:ea typeface="JetBrains Mono" pitchFamily="49" charset="-122"/>
                <a:cs typeface="JetBrains Mono" pitchFamily="49" charset="-120"/>
              </a:rPr>
              <a:t>in</a:t>
            </a:r>
            <a:r>
              <a:rPr lang="en-US" sz="1200" dirty="0">
                <a:solidFill>
                  <a:srgbClr val="E8E4DA"/>
                </a:solidFill>
                <a:latin typeface="JetBrains Mono" pitchFamily="49" charset="0"/>
                <a:ea typeface="JetBrains Mono" pitchFamily="49" charset="-122"/>
                <a:cs typeface="JetBrains Mono" pitchFamily="49" charset="-120"/>
              </a:rPr>
              <a:t> self.map:</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self._remove(self.map[key])</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node = Node(key, value)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self.map[key] = 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self._add_front(node)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if</a:t>
            </a:r>
            <a:r>
              <a:rPr lang="en-US" sz="1200" dirty="0">
                <a:solidFill>
                  <a:srgbClr val="E8E4DA"/>
                </a:solidFill>
                <a:latin typeface="JetBrains Mono" pitchFamily="49" charset="0"/>
                <a:ea typeface="JetBrains Mono" pitchFamily="49" charset="-122"/>
                <a:cs typeface="JetBrains Mono" pitchFamily="49" charset="-120"/>
              </a:rPr>
              <a:t> len(self.map) &gt; self.cap:</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lru = self.tail.prev  </a:t>
            </a:r>
            <a:r>
              <a:rPr lang="en-US" sz="1200" dirty="0">
                <a:solidFill>
                  <a:srgbClr val="8A94A6"/>
                </a:solidFill>
                <a:latin typeface="JetBrains Mono" pitchFamily="49" charset="0"/>
                <a:ea typeface="JetBrains Mono" pitchFamily="49" charset="-122"/>
                <a:cs typeface="JetBrains Mono" pitchFamily="49" charset="-120"/>
              </a:rPr>
              <a:t># menos recente</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self._remove(lru)</a:t>
            </a:r>
            <a:endParaRPr lang="en-US" sz="1200" dirty="0"/>
          </a:p>
          <a:p>
            <a:pPr marL="0" indent="0" algn="l">
              <a:lnSpc>
                <a:spcPts val="1560"/>
              </a:lnSpc>
              <a:buNone/>
            </a:pPr>
            <a:r>
              <a:rPr lang="en-US" sz="1200" dirty="0">
                <a:solidFill>
                  <a:srgbClr val="E8E4DA"/>
                </a:solidFill>
                <a:latin typeface="JetBrains Mono" pitchFamily="49" charset="0"/>
                <a:ea typeface="JetBrains Mono" pitchFamily="49" charset="-122"/>
                <a:cs typeface="JetBrains Mono" pitchFamily="49" charset="-120"/>
              </a:rPr>
              <a:t>            </a:t>
            </a:r>
            <a:r>
              <a:rPr lang="en-US" sz="1200" dirty="0">
                <a:solidFill>
                  <a:srgbClr val="F2A541"/>
                </a:solidFill>
                <a:latin typeface="JetBrains Mono" pitchFamily="49" charset="0"/>
                <a:ea typeface="JetBrains Mono" pitchFamily="49" charset="-122"/>
                <a:cs typeface="JetBrains Mono" pitchFamily="49" charset="-120"/>
              </a:rPr>
              <a:t>del</a:t>
            </a:r>
            <a:r>
              <a:rPr lang="en-US" sz="1200" dirty="0">
                <a:solidFill>
                  <a:srgbClr val="E8E4DA"/>
                </a:solidFill>
                <a:latin typeface="JetBrains Mono" pitchFamily="49" charset="0"/>
                <a:ea typeface="JetBrains Mono" pitchFamily="49" charset="-122"/>
                <a:cs typeface="JetBrains Mono" pitchFamily="49" charset="-120"/>
              </a:rPr>
              <a:t> self.map[lru.key]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A65A00"/>
                </a:solidFill>
                <a:latin typeface="JetBrains Mono" pitchFamily="49" charset="0"/>
                <a:ea typeface="JetBrains Mono" pitchFamily="49" charset="-122"/>
                <a:cs typeface="JetBrains Mono" pitchFamily="49" charset="-120"/>
              </a:rPr>
              <a:t>COMPLEXIDADE E ARMADILHAS</a:t>
            </a:r>
            <a:endParaRPr lang="en-US" sz="1300" dirty="0"/>
          </a:p>
        </p:txBody>
      </p:sp>
      <p:sp>
        <p:nvSpPr>
          <p:cNvPr id="3" name="Shape 1"/>
          <p:cNvSpPr/>
          <p:nvPr/>
        </p:nvSpPr>
        <p:spPr>
          <a:xfrm>
            <a:off x="815975" y="1301055"/>
            <a:ext cx="3043138" cy="1301651"/>
          </a:xfrm>
          <a:prstGeom prst="roundRect">
            <a:avLst>
              <a:gd name="adj" fmla="val 9513"/>
            </a:avLst>
          </a:prstGeom>
          <a:solidFill>
            <a:srgbClr val="FFFDF8"/>
          </a:solidFill>
          <a:ln w="6350">
            <a:solidFill>
              <a:srgbClr val="E3DCCB"/>
            </a:solidFill>
            <a:prstDash val="solid"/>
          </a:ln>
        </p:spPr>
        <p:txBody>
          <a:bodyPr/>
          <a:lstStyle/>
          <a:p>
            <a:endParaRPr lang="pt-BR"/>
          </a:p>
        </p:txBody>
      </p:sp>
      <p:sp>
        <p:nvSpPr>
          <p:cNvPr id="4" name="Text 2"/>
          <p:cNvSpPr/>
          <p:nvPr/>
        </p:nvSpPr>
        <p:spPr>
          <a:xfrm>
            <a:off x="1073150" y="1507430"/>
            <a:ext cx="2604652"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65A00"/>
                </a:solidFill>
                <a:latin typeface="Space Grotesk" pitchFamily="34" charset="0"/>
                <a:ea typeface="Space Grotesk" pitchFamily="34" charset="-122"/>
                <a:cs typeface="Space Grotesk" pitchFamily="34" charset="-120"/>
              </a:rPr>
              <a:t>O(1)</a:t>
            </a:r>
            <a:endParaRPr lang="en-US" sz="4400" dirty="0"/>
          </a:p>
        </p:txBody>
      </p:sp>
      <p:sp>
        <p:nvSpPr>
          <p:cNvPr id="5" name="Text 3"/>
          <p:cNvSpPr/>
          <p:nvPr/>
        </p:nvSpPr>
        <p:spPr>
          <a:xfrm>
            <a:off x="1073150" y="2147491"/>
            <a:ext cx="260465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060"/>
                </a:solidFill>
                <a:latin typeface="IBM Plex Sans" pitchFamily="34" charset="0"/>
                <a:ea typeface="IBM Plex Sans" pitchFamily="34" charset="-122"/>
                <a:cs typeface="IBM Plex Sans" pitchFamily="34" charset="-120"/>
              </a:rPr>
              <a:t>get</a:t>
            </a:r>
            <a:endParaRPr lang="en-US" sz="1400" dirty="0"/>
          </a:p>
        </p:txBody>
      </p:sp>
      <p:sp>
        <p:nvSpPr>
          <p:cNvPr id="6" name="Shape 4"/>
          <p:cNvSpPr/>
          <p:nvPr/>
        </p:nvSpPr>
        <p:spPr>
          <a:xfrm>
            <a:off x="4068663" y="1301055"/>
            <a:ext cx="3043138" cy="1301651"/>
          </a:xfrm>
          <a:prstGeom prst="roundRect">
            <a:avLst>
              <a:gd name="adj" fmla="val 9513"/>
            </a:avLst>
          </a:prstGeom>
          <a:solidFill>
            <a:srgbClr val="FFFDF8"/>
          </a:solidFill>
          <a:ln w="6350">
            <a:solidFill>
              <a:srgbClr val="E3DCCB"/>
            </a:solidFill>
            <a:prstDash val="solid"/>
          </a:ln>
        </p:spPr>
        <p:txBody>
          <a:bodyPr/>
          <a:lstStyle/>
          <a:p>
            <a:endParaRPr lang="pt-BR"/>
          </a:p>
        </p:txBody>
      </p:sp>
      <p:sp>
        <p:nvSpPr>
          <p:cNvPr id="7" name="Text 5"/>
          <p:cNvSpPr/>
          <p:nvPr/>
        </p:nvSpPr>
        <p:spPr>
          <a:xfrm>
            <a:off x="4325838" y="1507430"/>
            <a:ext cx="2604652"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A65A00"/>
                </a:solidFill>
                <a:latin typeface="Space Grotesk" pitchFamily="34" charset="0"/>
                <a:ea typeface="Space Grotesk" pitchFamily="34" charset="-122"/>
                <a:cs typeface="Space Grotesk" pitchFamily="34" charset="-120"/>
              </a:rPr>
              <a:t>O(1)</a:t>
            </a:r>
            <a:endParaRPr lang="en-US" sz="4400" dirty="0"/>
          </a:p>
        </p:txBody>
      </p:sp>
      <p:sp>
        <p:nvSpPr>
          <p:cNvPr id="8" name="Text 6"/>
          <p:cNvSpPr/>
          <p:nvPr/>
        </p:nvSpPr>
        <p:spPr>
          <a:xfrm>
            <a:off x="4325838" y="2147491"/>
            <a:ext cx="260465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060"/>
                </a:solidFill>
                <a:latin typeface="IBM Plex Sans" pitchFamily="34" charset="0"/>
                <a:ea typeface="IBM Plex Sans" pitchFamily="34" charset="-122"/>
                <a:cs typeface="IBM Plex Sans" pitchFamily="34" charset="-120"/>
              </a:rPr>
              <a:t>put</a:t>
            </a:r>
            <a:endParaRPr lang="en-US" sz="1400" dirty="0"/>
          </a:p>
        </p:txBody>
      </p:sp>
      <p:sp>
        <p:nvSpPr>
          <p:cNvPr id="9" name="Shape 7"/>
          <p:cNvSpPr/>
          <p:nvPr/>
        </p:nvSpPr>
        <p:spPr>
          <a:xfrm>
            <a:off x="7321352" y="1301055"/>
            <a:ext cx="4054673" cy="1301651"/>
          </a:xfrm>
          <a:prstGeom prst="roundRect">
            <a:avLst>
              <a:gd name="adj" fmla="val 9513"/>
            </a:avLst>
          </a:prstGeom>
          <a:solidFill>
            <a:srgbClr val="FFFDF8"/>
          </a:solidFill>
          <a:ln w="6350">
            <a:solidFill>
              <a:srgbClr val="E3DCCB"/>
            </a:solidFill>
            <a:prstDash val="solid"/>
          </a:ln>
        </p:spPr>
        <p:txBody>
          <a:bodyPr/>
          <a:lstStyle/>
          <a:p>
            <a:endParaRPr lang="pt-BR"/>
          </a:p>
        </p:txBody>
      </p:sp>
      <p:sp>
        <p:nvSpPr>
          <p:cNvPr id="10" name="Text 8"/>
          <p:cNvSpPr/>
          <p:nvPr/>
        </p:nvSpPr>
        <p:spPr>
          <a:xfrm>
            <a:off x="7578527" y="1507430"/>
            <a:ext cx="3646533"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2F5DB8"/>
                </a:solidFill>
                <a:latin typeface="Space Grotesk" pitchFamily="34" charset="0"/>
                <a:ea typeface="Space Grotesk" pitchFamily="34" charset="-122"/>
                <a:cs typeface="Space Grotesk" pitchFamily="34" charset="-120"/>
              </a:rPr>
              <a:t>O(cap)</a:t>
            </a:r>
            <a:endParaRPr lang="en-US" sz="4400" dirty="0"/>
          </a:p>
        </p:txBody>
      </p:sp>
      <p:sp>
        <p:nvSpPr>
          <p:cNvPr id="11" name="Text 9"/>
          <p:cNvSpPr/>
          <p:nvPr/>
        </p:nvSpPr>
        <p:spPr>
          <a:xfrm>
            <a:off x="7578527" y="2147491"/>
            <a:ext cx="364653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060"/>
                </a:solidFill>
                <a:latin typeface="IBM Plex Sans" pitchFamily="34" charset="0"/>
                <a:ea typeface="IBM Plex Sans" pitchFamily="34" charset="-122"/>
                <a:cs typeface="IBM Plex Sans" pitchFamily="34" charset="-120"/>
              </a:rPr>
              <a:t>espaço</a:t>
            </a:r>
            <a:endParaRPr lang="en-US" sz="1400" dirty="0"/>
          </a:p>
        </p:txBody>
      </p:sp>
      <p:sp>
        <p:nvSpPr>
          <p:cNvPr id="12" name="Text 10"/>
          <p:cNvSpPr>
            <a:spLocks noGrp="1"/>
          </p:cNvSpPr>
          <p:nvPr>
            <p:ph type="title"/>
          </p:nvPr>
        </p:nvSpPr>
        <p:spPr>
          <a:xfrm>
            <a:off x="812800" y="2859881"/>
            <a:ext cx="10883392" cy="330200"/>
          </a:xfrm>
          <a:prstGeom prst="rect">
            <a:avLst/>
          </a:prstGeom>
          <a:noFill/>
          <a:ln/>
        </p:spPr>
        <p:txBody>
          <a:bodyPr wrap="square" lIns="0" tIns="0" rIns="0" bIns="0" rtlCol="0" anchor="t">
            <a:normAutofit/>
          </a:bodyPr>
          <a:lstStyle/>
          <a:p>
            <a:pPr marL="0" indent="0" algn="l">
              <a:lnSpc>
                <a:spcPts val="2400"/>
              </a:lnSpc>
              <a:buNone/>
            </a:pPr>
            <a:r>
              <a:rPr lang="en-US" sz="2000" b="1" i="0" dirty="0">
                <a:solidFill>
                  <a:srgbClr val="1A1D24"/>
                </a:solidFill>
                <a:latin typeface="Space Grotesk" pitchFamily="34" charset="0"/>
                <a:ea typeface="Space Grotesk" pitchFamily="34" charset="-122"/>
                <a:cs typeface="Space Grotesk" pitchFamily="34" charset="-120"/>
              </a:rPr>
              <a:t>Onde quase todo mundo erra</a:t>
            </a:r>
            <a:endParaRPr lang="en-US" sz="2000" dirty="0"/>
          </a:p>
        </p:txBody>
      </p:sp>
      <p:sp>
        <p:nvSpPr>
          <p:cNvPr id="13" name="Text 11"/>
          <p:cNvSpPr/>
          <p:nvPr/>
        </p:nvSpPr>
        <p:spPr>
          <a:xfrm>
            <a:off x="855663" y="3266281"/>
            <a:ext cx="10832910" cy="882650"/>
          </a:xfrm>
          <a:prstGeom prst="rect">
            <a:avLst/>
          </a:prstGeom>
          <a:noFill/>
          <a:ln/>
        </p:spPr>
        <p:txBody>
          <a:bodyPr wrap="square" lIns="0" tIns="0" rIns="0" bIns="0" rtlCol="0" anchor="t">
            <a:normAutofit/>
          </a:bodyPr>
          <a:lstStyle/>
          <a:p>
            <a:pPr marL="211138" indent="-211138" algn="l">
              <a:lnSpc>
                <a:spcPts val="2250"/>
              </a:lnSpc>
              <a:buSzPct val="100000"/>
              <a:buFontTx/>
              <a:buAutoNum type="arabicPeriod"/>
            </a:pPr>
            <a:r>
              <a:rPr lang="en-US" sz="1500" dirty="0">
                <a:solidFill>
                  <a:srgbClr val="1A1D24"/>
                </a:solidFill>
                <a:latin typeface="IBM Plex Sans" pitchFamily="34" charset="0"/>
                <a:ea typeface="IBM Plex Sans" pitchFamily="34" charset="-122"/>
                <a:cs typeface="IBM Plex Sans" pitchFamily="34" charset="-120"/>
              </a:rPr>
              <a:t>Esquecer de mover o item para a frente também no </a:t>
            </a:r>
            <a:r>
              <a:rPr lang="en-US" sz="1500" b="1" dirty="0">
                <a:solidFill>
                  <a:srgbClr val="1A1D24"/>
                </a:solidFill>
                <a:latin typeface="IBM Plex Sans" pitchFamily="34" charset="0"/>
                <a:ea typeface="IBM Plex Sans" pitchFamily="34" charset="-122"/>
                <a:cs typeface="IBM Plex Sans" pitchFamily="34" charset="-120"/>
              </a:rPr>
              <a:t>get</a:t>
            </a:r>
            <a:r>
              <a:rPr lang="en-US" sz="1500" dirty="0">
                <a:solidFill>
                  <a:srgbClr val="1A1D24"/>
                </a:solidFill>
                <a:latin typeface="IBM Plex Sans" pitchFamily="34" charset="0"/>
                <a:ea typeface="IBM Plex Sans" pitchFamily="34" charset="-122"/>
                <a:cs typeface="IBM Plex Sans" pitchFamily="34" charset="-120"/>
              </a:rPr>
              <a:t>, não só no put</a:t>
            </a:r>
            <a:endParaRPr lang="en-US" sz="1500" dirty="0"/>
          </a:p>
          <a:p>
            <a:pPr marL="211138" indent="-211138" algn="l">
              <a:lnSpc>
                <a:spcPts val="2250"/>
              </a:lnSpc>
              <a:buSzPct val="100000"/>
              <a:buFontTx/>
              <a:buAutoNum type="arabicPeriod"/>
            </a:pPr>
            <a:r>
              <a:rPr lang="en-US" sz="1500" dirty="0">
                <a:solidFill>
                  <a:srgbClr val="1A1D24"/>
                </a:solidFill>
                <a:latin typeface="IBM Plex Sans" pitchFamily="34" charset="0"/>
                <a:ea typeface="IBM Plex Sans" pitchFamily="34" charset="-122"/>
                <a:cs typeface="IBM Plex Sans" pitchFamily="34" charset="-120"/>
              </a:rPr>
              <a:t>Cirurgia de ponteiro: ao remover um nó, atualizar os </a:t>
            </a:r>
            <a:r>
              <a:rPr lang="en-US" sz="1500" b="1" dirty="0">
                <a:solidFill>
                  <a:srgbClr val="1A1D24"/>
                </a:solidFill>
                <a:latin typeface="IBM Plex Sans" pitchFamily="34" charset="0"/>
                <a:ea typeface="IBM Plex Sans" pitchFamily="34" charset="-122"/>
                <a:cs typeface="IBM Plex Sans" pitchFamily="34" charset="-120"/>
              </a:rPr>
              <a:t>dois</a:t>
            </a:r>
            <a:r>
              <a:rPr lang="en-US" sz="1500" dirty="0">
                <a:solidFill>
                  <a:srgbClr val="1A1D24"/>
                </a:solidFill>
                <a:latin typeface="IBM Plex Sans" pitchFamily="34" charset="0"/>
                <a:ea typeface="IBM Plex Sans" pitchFamily="34" charset="-122"/>
                <a:cs typeface="IBM Plex Sans" pitchFamily="34" charset="-120"/>
              </a:rPr>
              <a:t> vizinhos</a:t>
            </a:r>
            <a:endParaRPr lang="en-US" sz="1500" dirty="0"/>
          </a:p>
          <a:p>
            <a:pPr marL="211138" indent="-211138" algn="l">
              <a:lnSpc>
                <a:spcPts val="2250"/>
              </a:lnSpc>
              <a:buSzPct val="100000"/>
              <a:buFontTx/>
              <a:buAutoNum type="arabicPeriod"/>
            </a:pPr>
            <a:r>
              <a:rPr lang="en-US" sz="1500" dirty="0">
                <a:solidFill>
                  <a:srgbClr val="1A1D24"/>
                </a:solidFill>
                <a:latin typeface="IBM Plex Sans" pitchFamily="34" charset="0"/>
                <a:ea typeface="IBM Plex Sans" pitchFamily="34" charset="-122"/>
                <a:cs typeface="IBM Plex Sans" pitchFamily="34" charset="-120"/>
              </a:rPr>
              <a:t>Despejar na hora certa quando o cache já está na capacidade máxima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NO SEU CÓDIGO</a:t>
            </a:r>
            <a:endParaRPr lang="en-US" sz="1300" dirty="0"/>
          </a:p>
        </p:txBody>
      </p:sp>
      <p:sp>
        <p:nvSpPr>
          <p:cNvPr id="3" name="Text 1"/>
          <p:cNvSpPr>
            <a:spLocks noGrp="1"/>
          </p:cNvSpPr>
          <p:nvPr>
            <p:ph type="title"/>
          </p:nvPr>
        </p:nvSpPr>
        <p:spPr>
          <a:xfrm>
            <a:off x="812800" y="129788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Onde usar LRU no dia a dia de dev</a:t>
            </a:r>
            <a:endParaRPr lang="en-US" sz="3600" dirty="0"/>
          </a:p>
        </p:txBody>
      </p:sp>
      <p:sp>
        <p:nvSpPr>
          <p:cNvPr id="4" name="Shape 2"/>
          <p:cNvSpPr/>
          <p:nvPr/>
        </p:nvSpPr>
        <p:spPr>
          <a:xfrm>
            <a:off x="812800" y="2054721"/>
            <a:ext cx="4826000" cy="2686645"/>
          </a:xfrm>
          <a:prstGeom prst="roundRect">
            <a:avLst>
              <a:gd name="adj" fmla="val 4727"/>
            </a:avLst>
          </a:prstGeom>
          <a:solidFill>
            <a:srgbClr val="1C2230"/>
          </a:solidFill>
          <a:ln/>
        </p:spPr>
        <p:txBody>
          <a:bodyPr/>
          <a:lstStyle/>
          <a:p>
            <a:endParaRPr lang="pt-BR"/>
          </a:p>
        </p:txBody>
      </p:sp>
      <p:sp>
        <p:nvSpPr>
          <p:cNvPr id="5" name="Text 3"/>
          <p:cNvSpPr/>
          <p:nvPr/>
        </p:nvSpPr>
        <p:spPr>
          <a:xfrm>
            <a:off x="1066800" y="2283321"/>
            <a:ext cx="444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JetBrains Mono" pitchFamily="49" charset="0"/>
                <a:ea typeface="JetBrains Mono" pitchFamily="49" charset="-122"/>
                <a:cs typeface="JetBrains Mono" pitchFamily="49" charset="-120"/>
              </a:rPr>
              <a:t># Python já vem com LRU pronto</a:t>
            </a:r>
            <a:endParaRPr lang="en-US" sz="1200" dirty="0"/>
          </a:p>
        </p:txBody>
      </p:sp>
      <p:sp>
        <p:nvSpPr>
          <p:cNvPr id="6" name="Text 4"/>
          <p:cNvSpPr/>
          <p:nvPr/>
        </p:nvSpPr>
        <p:spPr>
          <a:xfrm>
            <a:off x="1066800" y="2598241"/>
            <a:ext cx="4447540" cy="193992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F2A541"/>
                </a:solidFill>
                <a:latin typeface="JetBrains Mono" pitchFamily="49" charset="0"/>
                <a:ea typeface="JetBrains Mono" pitchFamily="49" charset="-122"/>
                <a:cs typeface="JetBrains Mono" pitchFamily="49" charset="-120"/>
              </a:rPr>
              <a:t>from</a:t>
            </a:r>
            <a:r>
              <a:rPr lang="en-US" sz="1300" dirty="0">
                <a:solidFill>
                  <a:srgbClr val="E8E4DA"/>
                </a:solidFill>
                <a:latin typeface="JetBrains Mono" pitchFamily="49" charset="0"/>
                <a:ea typeface="JetBrains Mono" pitchFamily="49" charset="-122"/>
                <a:cs typeface="JetBrains Mono" pitchFamily="49" charset="-120"/>
              </a:rPr>
              <a:t> functools </a:t>
            </a:r>
            <a:r>
              <a:rPr lang="en-US" sz="1300" dirty="0">
                <a:solidFill>
                  <a:srgbClr val="F2A541"/>
                </a:solidFill>
                <a:latin typeface="JetBrains Mono" pitchFamily="49" charset="0"/>
                <a:ea typeface="JetBrains Mono" pitchFamily="49" charset="-122"/>
                <a:cs typeface="JetBrains Mono" pitchFamily="49" charset="-120"/>
              </a:rPr>
              <a:t>import</a:t>
            </a:r>
            <a:r>
              <a:rPr lang="en-US" sz="1300" dirty="0">
                <a:solidFill>
                  <a:srgbClr val="E8E4DA"/>
                </a:solidFill>
                <a:latin typeface="JetBrains Mono" pitchFamily="49" charset="0"/>
                <a:ea typeface="JetBrains Mono" pitchFamily="49" charset="-122"/>
                <a:cs typeface="JetBrains Mono" pitchFamily="49" charset="-120"/>
              </a:rPr>
              <a:t> lru_cache</a:t>
            </a:r>
            <a:endParaRPr lang="en-US" sz="1300" dirty="0"/>
          </a:p>
          <a:p>
            <a:pPr marL="0" indent="0" algn="l">
              <a:lnSpc>
                <a:spcPts val="1885"/>
              </a:lnSpc>
              <a:buNone/>
            </a:pPr>
            <a:endParaRPr lang="en-US" sz="1300" dirty="0"/>
          </a:p>
          <a:p>
            <a:pPr marL="0" indent="0" algn="l">
              <a:lnSpc>
                <a:spcPts val="1885"/>
              </a:lnSpc>
              <a:buNone/>
            </a:pPr>
            <a:r>
              <a:rPr lang="en-US" sz="1300" dirty="0">
                <a:solidFill>
                  <a:srgbClr val="8FB3FF"/>
                </a:solidFill>
                <a:latin typeface="JetBrains Mono" pitchFamily="49" charset="0"/>
                <a:ea typeface="JetBrains Mono" pitchFamily="49" charset="-122"/>
                <a:cs typeface="JetBrains Mono" pitchFamily="49" charset="-120"/>
              </a:rPr>
              <a:t>@lru_cache</a:t>
            </a:r>
            <a:r>
              <a:rPr lang="en-US" sz="1300" dirty="0">
                <a:solidFill>
                  <a:srgbClr val="E8E4DA"/>
                </a:solidFill>
                <a:latin typeface="JetBrains Mono" pitchFamily="49" charset="0"/>
                <a:ea typeface="JetBrains Mono" pitchFamily="49" charset="-122"/>
                <a:cs typeface="JetBrains Mono" pitchFamily="49" charset="-120"/>
              </a:rPr>
              <a:t>(maxsize=1024)</a:t>
            </a:r>
            <a:endParaRPr lang="en-US" sz="1300" dirty="0"/>
          </a:p>
          <a:p>
            <a:pPr marL="0" indent="0" algn="l">
              <a:lnSpc>
                <a:spcPts val="1885"/>
              </a:lnSpc>
              <a:buNone/>
            </a:pPr>
            <a:r>
              <a:rPr lang="en-US" sz="1300" dirty="0">
                <a:solidFill>
                  <a:srgbClr val="F2A541"/>
                </a:solidFill>
                <a:latin typeface="JetBrains Mono" pitchFamily="49" charset="0"/>
                <a:ea typeface="JetBrains Mono" pitchFamily="49" charset="-122"/>
                <a:cs typeface="JetBrains Mono" pitchFamily="49" charset="-120"/>
              </a:rPr>
              <a:t>def</a:t>
            </a:r>
            <a:r>
              <a:rPr lang="en-US" sz="1300" dirty="0">
                <a:solidFill>
                  <a:srgbClr val="E8E4DA"/>
                </a:solidFill>
                <a:latin typeface="JetBrains Mono" pitchFamily="49" charset="0"/>
                <a:ea typeface="JetBrains Mono" pitchFamily="49" charset="-122"/>
                <a:cs typeface="JetBrains Mono" pitchFamily="49" charset="-120"/>
              </a:rPr>
              <a:t> buscar_cliente(cliente_id):</a:t>
            </a:r>
            <a:endParaRPr lang="en-US" sz="1300" dirty="0"/>
          </a:p>
          <a:p>
            <a:pPr marL="0" indent="0" algn="l">
              <a:lnSpc>
                <a:spcPts val="1885"/>
              </a:lnSpc>
              <a:buNone/>
            </a:pPr>
            <a:r>
              <a:rPr lang="en-US" sz="1300" dirty="0">
                <a:solidFill>
                  <a:srgbClr val="E8E4DA"/>
                </a:solidFill>
                <a:latin typeface="JetBrains Mono" pitchFamily="49" charset="0"/>
                <a:ea typeface="JetBrains Mono" pitchFamily="49" charset="-122"/>
                <a:cs typeface="JetBrains Mono" pitchFamily="49" charset="-120"/>
              </a:rPr>
              <a:t>    </a:t>
            </a:r>
            <a:r>
              <a:rPr lang="en-US" sz="1300" dirty="0">
                <a:solidFill>
                  <a:srgbClr val="F2A541"/>
                </a:solidFill>
                <a:latin typeface="JetBrains Mono" pitchFamily="49" charset="0"/>
                <a:ea typeface="JetBrains Mono" pitchFamily="49" charset="-122"/>
                <a:cs typeface="JetBrains Mono" pitchFamily="49" charset="-120"/>
              </a:rPr>
              <a:t>return</a:t>
            </a:r>
            <a:r>
              <a:rPr lang="en-US" sz="1300" dirty="0">
                <a:solidFill>
                  <a:srgbClr val="E8E4DA"/>
                </a:solidFill>
                <a:latin typeface="JetBrains Mono" pitchFamily="49" charset="0"/>
                <a:ea typeface="JetBrains Mono" pitchFamily="49" charset="-122"/>
                <a:cs typeface="JetBrains Mono" pitchFamily="49" charset="-120"/>
              </a:rPr>
              <a:t> db.query(...)  </a:t>
            </a:r>
            <a:r>
              <a:rPr lang="en-US" sz="1300" dirty="0">
                <a:solidFill>
                  <a:srgbClr val="8A94A6"/>
                </a:solidFill>
                <a:latin typeface="JetBrains Mono" pitchFamily="49" charset="0"/>
                <a:ea typeface="JetBrains Mono" pitchFamily="49" charset="-122"/>
                <a:cs typeface="JetBrains Mono" pitchFamily="49" charset="-120"/>
              </a:rPr>
              <a:t># lento</a:t>
            </a:r>
            <a:endParaRPr lang="en-US" sz="1300" dirty="0"/>
          </a:p>
          <a:p>
            <a:pPr marL="0" indent="0" algn="l">
              <a:lnSpc>
                <a:spcPts val="1885"/>
              </a:lnSpc>
              <a:buNone/>
            </a:pPr>
            <a:endParaRPr lang="en-US" sz="1300" dirty="0"/>
          </a:p>
          <a:p>
            <a:pPr marL="0" indent="0" algn="l">
              <a:lnSpc>
                <a:spcPts val="1885"/>
              </a:lnSpc>
              <a:buNone/>
            </a:pPr>
            <a:r>
              <a:rPr lang="en-US" sz="1300" dirty="0">
                <a:solidFill>
                  <a:srgbClr val="E8E4DA"/>
                </a:solidFill>
                <a:latin typeface="JetBrains Mono" pitchFamily="49" charset="0"/>
                <a:ea typeface="JetBrains Mono" pitchFamily="49" charset="-122"/>
                <a:cs typeface="JetBrains Mono" pitchFamily="49" charset="-120"/>
              </a:rPr>
              <a:t>buscar_cliente(42)  </a:t>
            </a:r>
            <a:r>
              <a:rPr lang="en-US" sz="1300" dirty="0">
                <a:solidFill>
                  <a:srgbClr val="8A94A6"/>
                </a:solidFill>
                <a:latin typeface="JetBrains Mono" pitchFamily="49" charset="0"/>
                <a:ea typeface="JetBrains Mono" pitchFamily="49" charset="-122"/>
                <a:cs typeface="JetBrains Mono" pitchFamily="49" charset="-120"/>
              </a:rPr>
              <a:t># vai ao banco</a:t>
            </a:r>
            <a:endParaRPr lang="en-US" sz="1300" dirty="0"/>
          </a:p>
          <a:p>
            <a:pPr marL="0" indent="0" algn="l">
              <a:lnSpc>
                <a:spcPts val="1885"/>
              </a:lnSpc>
              <a:buNone/>
            </a:pPr>
            <a:r>
              <a:rPr lang="en-US" sz="1300" dirty="0">
                <a:solidFill>
                  <a:srgbClr val="E8E4DA"/>
                </a:solidFill>
                <a:latin typeface="JetBrains Mono" pitchFamily="49" charset="0"/>
                <a:ea typeface="JetBrains Mono" pitchFamily="49" charset="-122"/>
                <a:cs typeface="JetBrains Mono" pitchFamily="49" charset="-120"/>
              </a:rPr>
              <a:t>buscar_cliente(42)  </a:t>
            </a:r>
            <a:r>
              <a:rPr lang="en-US" sz="1300" dirty="0">
                <a:solidFill>
                  <a:srgbClr val="8A94A6"/>
                </a:solidFill>
                <a:latin typeface="JetBrains Mono" pitchFamily="49" charset="0"/>
                <a:ea typeface="JetBrains Mono" pitchFamily="49" charset="-122"/>
                <a:cs typeface="JetBrains Mono" pitchFamily="49" charset="-120"/>
              </a:rPr>
              <a:t># vem do cache</a:t>
            </a:r>
            <a:endParaRPr lang="en-US" sz="1300" dirty="0"/>
          </a:p>
        </p:txBody>
      </p:sp>
      <p:sp>
        <p:nvSpPr>
          <p:cNvPr id="7" name="Shape 5"/>
          <p:cNvSpPr/>
          <p:nvPr/>
        </p:nvSpPr>
        <p:spPr>
          <a:xfrm>
            <a:off x="5943600" y="2054721"/>
            <a:ext cx="5435600" cy="792361"/>
          </a:xfrm>
          <a:prstGeom prst="roundRect">
            <a:avLst>
              <a:gd name="adj" fmla="val 12822"/>
            </a:avLst>
          </a:prstGeom>
          <a:solidFill>
            <a:srgbClr val="1C2230"/>
          </a:solidFill>
          <a:ln/>
        </p:spPr>
        <p:txBody>
          <a:bodyPr/>
          <a:lstStyle/>
          <a:p>
            <a:endParaRPr lang="pt-BR"/>
          </a:p>
        </p:txBody>
      </p:sp>
      <p:sp>
        <p:nvSpPr>
          <p:cNvPr id="8" name="Shape 6"/>
          <p:cNvSpPr/>
          <p:nvPr/>
        </p:nvSpPr>
        <p:spPr>
          <a:xfrm>
            <a:off x="5943600" y="2054721"/>
            <a:ext cx="5435600" cy="792361"/>
          </a:xfrm>
          <a:custGeom>
            <a:avLst/>
            <a:gdLst/>
            <a:ahLst/>
            <a:cxnLst/>
            <a:rect l="l" t="t" r="r" b="b"/>
            <a:pathLst>
              <a:path w="5435600" h="792361">
                <a:moveTo>
                  <a:pt x="101600" y="792361"/>
                </a:moveTo>
                <a:lnTo>
                  <a:pt x="101600" y="792361"/>
                </a:lnTo>
                <a:arcTo wR="101600" hR="101600" stAng="5400000" swAng="5400000"/>
                <a:lnTo>
                  <a:pt x="0" y="101600"/>
                </a:lnTo>
                <a:arcTo wR="101600" hR="101600" stAng="10800000" swAng="5400000"/>
                <a:lnTo>
                  <a:pt x="101600" y="0"/>
                </a:lnTo>
                <a:arcTo wR="63500" hR="101600" stAng="16200000" swAng="-5400000"/>
                <a:lnTo>
                  <a:pt x="38100" y="690761"/>
                </a:lnTo>
                <a:arcTo wR="63500" hR="101600" stAng="10800000" swAng="-5400000"/>
                <a:close/>
              </a:path>
            </a:pathLst>
          </a:custGeom>
          <a:solidFill>
            <a:srgbClr val="F2A541"/>
          </a:solidFill>
          <a:ln/>
        </p:spPr>
        <p:txBody>
          <a:bodyPr/>
          <a:lstStyle/>
          <a:p>
            <a:endParaRPr lang="pt-BR"/>
          </a:p>
        </p:txBody>
      </p:sp>
      <p:sp>
        <p:nvSpPr>
          <p:cNvPr id="9" name="Text 7"/>
          <p:cNvSpPr/>
          <p:nvPr/>
        </p:nvSpPr>
        <p:spPr>
          <a:xfrm>
            <a:off x="6184900" y="2194421"/>
            <a:ext cx="51408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Função cara e repetida</a:t>
            </a:r>
            <a:endParaRPr lang="en-US" sz="1600" dirty="0"/>
          </a:p>
        </p:txBody>
      </p:sp>
      <p:sp>
        <p:nvSpPr>
          <p:cNvPr id="10" name="Text 8"/>
          <p:cNvSpPr/>
          <p:nvPr/>
        </p:nvSpPr>
        <p:spPr>
          <a:xfrm>
            <a:off x="6184900" y="2476302"/>
            <a:ext cx="51408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Cálculo pesado ou consulta igual: </a:t>
            </a:r>
            <a:r>
              <a:rPr lang="en-US" sz="1300" dirty="0">
                <a:solidFill>
                  <a:srgbClr val="F2A541"/>
                </a:solidFill>
                <a:latin typeface="IBM Plex Sans" pitchFamily="34" charset="0"/>
                <a:ea typeface="IBM Plex Sans" pitchFamily="34" charset="-122"/>
                <a:cs typeface="IBM Plex Sans" pitchFamily="34" charset="-120"/>
              </a:rPr>
              <a:t>@lru_cache</a:t>
            </a:r>
            <a:endParaRPr lang="en-US" sz="1300" dirty="0"/>
          </a:p>
        </p:txBody>
      </p:sp>
      <p:sp>
        <p:nvSpPr>
          <p:cNvPr id="11" name="Shape 9"/>
          <p:cNvSpPr/>
          <p:nvPr/>
        </p:nvSpPr>
        <p:spPr>
          <a:xfrm>
            <a:off x="5943600" y="2948682"/>
            <a:ext cx="5435600" cy="792361"/>
          </a:xfrm>
          <a:prstGeom prst="roundRect">
            <a:avLst>
              <a:gd name="adj" fmla="val 12822"/>
            </a:avLst>
          </a:prstGeom>
          <a:solidFill>
            <a:srgbClr val="1C2230"/>
          </a:solidFill>
          <a:ln/>
        </p:spPr>
        <p:txBody>
          <a:bodyPr/>
          <a:lstStyle/>
          <a:p>
            <a:endParaRPr lang="pt-BR"/>
          </a:p>
        </p:txBody>
      </p:sp>
      <p:sp>
        <p:nvSpPr>
          <p:cNvPr id="12" name="Shape 10"/>
          <p:cNvSpPr/>
          <p:nvPr/>
        </p:nvSpPr>
        <p:spPr>
          <a:xfrm>
            <a:off x="5943600" y="2948682"/>
            <a:ext cx="5435600" cy="792361"/>
          </a:xfrm>
          <a:custGeom>
            <a:avLst/>
            <a:gdLst/>
            <a:ahLst/>
            <a:cxnLst/>
            <a:rect l="l" t="t" r="r" b="b"/>
            <a:pathLst>
              <a:path w="5435600" h="792361">
                <a:moveTo>
                  <a:pt x="101600" y="792361"/>
                </a:moveTo>
                <a:lnTo>
                  <a:pt x="101600" y="792361"/>
                </a:lnTo>
                <a:arcTo wR="101600" hR="101600" stAng="5400000" swAng="5400000"/>
                <a:lnTo>
                  <a:pt x="0" y="101600"/>
                </a:lnTo>
                <a:arcTo wR="101600" hR="101600" stAng="10800000" swAng="5400000"/>
                <a:lnTo>
                  <a:pt x="101600" y="0"/>
                </a:lnTo>
                <a:arcTo wR="63500" hR="101600" stAng="16200000" swAng="-5400000"/>
                <a:lnTo>
                  <a:pt x="38100" y="690761"/>
                </a:lnTo>
                <a:arcTo wR="63500" hR="101600" stAng="10800000" swAng="-5400000"/>
                <a:close/>
              </a:path>
            </a:pathLst>
          </a:custGeom>
          <a:solidFill>
            <a:srgbClr val="F2A541"/>
          </a:solidFill>
          <a:ln/>
        </p:spPr>
        <p:txBody>
          <a:bodyPr/>
          <a:lstStyle/>
          <a:p>
            <a:endParaRPr lang="pt-BR"/>
          </a:p>
        </p:txBody>
      </p:sp>
      <p:sp>
        <p:nvSpPr>
          <p:cNvPr id="13" name="Text 11"/>
          <p:cNvSpPr/>
          <p:nvPr/>
        </p:nvSpPr>
        <p:spPr>
          <a:xfrm>
            <a:off x="6184900" y="3088382"/>
            <a:ext cx="51408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Respostas de API ou banco</a:t>
            </a:r>
            <a:endParaRPr lang="en-US" sz="1600" dirty="0"/>
          </a:p>
        </p:txBody>
      </p:sp>
      <p:sp>
        <p:nvSpPr>
          <p:cNvPr id="14" name="Text 12"/>
          <p:cNvSpPr/>
          <p:nvPr/>
        </p:nvSpPr>
        <p:spPr>
          <a:xfrm>
            <a:off x="6184900" y="3370263"/>
            <a:ext cx="51408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Cache em memória da app: </a:t>
            </a:r>
            <a:r>
              <a:rPr lang="en-US" sz="1300" dirty="0">
                <a:solidFill>
                  <a:srgbClr val="F2A541"/>
                </a:solidFill>
                <a:latin typeface="IBM Plex Sans" pitchFamily="34" charset="0"/>
                <a:ea typeface="IBM Plex Sans" pitchFamily="34" charset="-122"/>
                <a:cs typeface="IBM Plex Sans" pitchFamily="34" charset="-120"/>
              </a:rPr>
              <a:t>cachetools</a:t>
            </a:r>
            <a:r>
              <a:rPr lang="en-US" sz="1300" dirty="0">
                <a:solidFill>
                  <a:srgbClr val="B9C0CC"/>
                </a:solidFill>
                <a:latin typeface="IBM Plex Sans" pitchFamily="34" charset="0"/>
                <a:ea typeface="IBM Plex Sans" pitchFamily="34" charset="-122"/>
                <a:cs typeface="IBM Plex Sans" pitchFamily="34" charset="-120"/>
              </a:rPr>
              <a:t> (LRUCache, TTLCache)</a:t>
            </a:r>
            <a:endParaRPr lang="en-US" sz="1300" dirty="0"/>
          </a:p>
        </p:txBody>
      </p:sp>
      <p:sp>
        <p:nvSpPr>
          <p:cNvPr id="15" name="Shape 13"/>
          <p:cNvSpPr/>
          <p:nvPr/>
        </p:nvSpPr>
        <p:spPr>
          <a:xfrm>
            <a:off x="5943600" y="3842643"/>
            <a:ext cx="5435600" cy="792361"/>
          </a:xfrm>
          <a:prstGeom prst="roundRect">
            <a:avLst>
              <a:gd name="adj" fmla="val 12822"/>
            </a:avLst>
          </a:prstGeom>
          <a:solidFill>
            <a:srgbClr val="1C2230"/>
          </a:solidFill>
          <a:ln/>
        </p:spPr>
        <p:txBody>
          <a:bodyPr/>
          <a:lstStyle/>
          <a:p>
            <a:endParaRPr lang="pt-BR"/>
          </a:p>
        </p:txBody>
      </p:sp>
      <p:sp>
        <p:nvSpPr>
          <p:cNvPr id="16" name="Shape 14"/>
          <p:cNvSpPr/>
          <p:nvPr/>
        </p:nvSpPr>
        <p:spPr>
          <a:xfrm>
            <a:off x="5943600" y="3842643"/>
            <a:ext cx="5435600" cy="792361"/>
          </a:xfrm>
          <a:custGeom>
            <a:avLst/>
            <a:gdLst/>
            <a:ahLst/>
            <a:cxnLst/>
            <a:rect l="l" t="t" r="r" b="b"/>
            <a:pathLst>
              <a:path w="5435600" h="792361">
                <a:moveTo>
                  <a:pt x="101600" y="792361"/>
                </a:moveTo>
                <a:lnTo>
                  <a:pt x="101600" y="792361"/>
                </a:lnTo>
                <a:arcTo wR="101600" hR="101600" stAng="5400000" swAng="5400000"/>
                <a:lnTo>
                  <a:pt x="0" y="101600"/>
                </a:lnTo>
                <a:arcTo wR="101600" hR="101600" stAng="10800000" swAng="5400000"/>
                <a:lnTo>
                  <a:pt x="101600" y="0"/>
                </a:lnTo>
                <a:arcTo wR="63500" hR="101600" stAng="16200000" swAng="-5400000"/>
                <a:lnTo>
                  <a:pt x="38100" y="690761"/>
                </a:lnTo>
                <a:arcTo wR="63500" hR="101600" stAng="10800000" swAng="-5400000"/>
                <a:close/>
              </a:path>
            </a:pathLst>
          </a:custGeom>
          <a:solidFill>
            <a:srgbClr val="6E9BF5"/>
          </a:solidFill>
          <a:ln/>
        </p:spPr>
        <p:txBody>
          <a:bodyPr/>
          <a:lstStyle/>
          <a:p>
            <a:endParaRPr lang="pt-BR"/>
          </a:p>
        </p:txBody>
      </p:sp>
      <p:sp>
        <p:nvSpPr>
          <p:cNvPr id="17" name="Text 15"/>
          <p:cNvSpPr/>
          <p:nvPr/>
        </p:nvSpPr>
        <p:spPr>
          <a:xfrm>
            <a:off x="6184900" y="3982343"/>
            <a:ext cx="514083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Vários servidores</a:t>
            </a:r>
            <a:endParaRPr lang="en-US" sz="1600" dirty="0"/>
          </a:p>
        </p:txBody>
      </p:sp>
      <p:sp>
        <p:nvSpPr>
          <p:cNvPr id="18" name="Text 16"/>
          <p:cNvSpPr/>
          <p:nvPr/>
        </p:nvSpPr>
        <p:spPr>
          <a:xfrm>
            <a:off x="6184900" y="4264223"/>
            <a:ext cx="514083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0CC"/>
                </a:solidFill>
                <a:latin typeface="IBM Plex Sans" pitchFamily="34" charset="0"/>
                <a:ea typeface="IBM Plex Sans" pitchFamily="34" charset="-122"/>
                <a:cs typeface="IBM Plex Sans" pitchFamily="34" charset="-120"/>
              </a:rPr>
              <a:t>Cache compartilhado: </a:t>
            </a:r>
            <a:r>
              <a:rPr lang="en-US" sz="1300" dirty="0">
                <a:solidFill>
                  <a:srgbClr val="6E9BF5"/>
                </a:solidFill>
                <a:latin typeface="IBM Plex Sans" pitchFamily="34" charset="0"/>
                <a:ea typeface="IBM Plex Sans" pitchFamily="34" charset="-122"/>
                <a:cs typeface="IBM Plex Sans" pitchFamily="34" charset="-120"/>
              </a:rPr>
              <a:t>Redis com allkeys-lru</a:t>
            </a:r>
            <a:endParaRPr lang="en-US" sz="1300" dirty="0"/>
          </a:p>
        </p:txBody>
      </p:sp>
      <p:sp>
        <p:nvSpPr>
          <p:cNvPr id="19" name="Text 17"/>
          <p:cNvSpPr/>
          <p:nvPr/>
        </p:nvSpPr>
        <p:spPr>
          <a:xfrm>
            <a:off x="812800" y="4995366"/>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0CC"/>
                </a:solidFill>
                <a:latin typeface="IBM Plex Sans" pitchFamily="34" charset="0"/>
                <a:ea typeface="IBM Plex Sans" pitchFamily="34" charset="-122"/>
                <a:cs typeface="IBM Plex Sans" pitchFamily="34" charset="-120"/>
              </a:rPr>
              <a:t>Regra de bolso: use cache quando a </a:t>
            </a:r>
            <a:r>
              <a:rPr lang="en-US" sz="1500" b="1" dirty="0">
                <a:solidFill>
                  <a:srgbClr val="F4F1EA"/>
                </a:solidFill>
                <a:latin typeface="IBM Plex Sans" pitchFamily="34" charset="0"/>
                <a:ea typeface="IBM Plex Sans" pitchFamily="34" charset="-122"/>
                <a:cs typeface="IBM Plex Sans" pitchFamily="34" charset="-120"/>
              </a:rPr>
              <a:t>mesma leitura cara se repete</a:t>
            </a:r>
            <a:r>
              <a:rPr lang="en-US" sz="1500" dirty="0">
                <a:solidFill>
                  <a:srgbClr val="B9C0CC"/>
                </a:solidFill>
                <a:latin typeface="IBM Plex Sans" pitchFamily="34" charset="0"/>
                <a:ea typeface="IBM Plex Sans" pitchFamily="34" charset="-122"/>
                <a:cs typeface="IBM Plex Sans" pitchFamily="34" charset="-120"/>
              </a:rPr>
              <a:t> — e sempre defina um limite e quando os dados ficam velhos.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F"/>
        </a:solidFill>
        <a:effectLst/>
      </p:bgPr>
    </p:bg>
    <p:spTree>
      <p:nvGrpSpPr>
        <p:cNvPr id="1" name=""/>
        <p:cNvGrpSpPr/>
        <p:nvPr/>
      </p:nvGrpSpPr>
      <p:grpSpPr>
        <a:xfrm>
          <a:off x="0" y="0"/>
          <a:ext cx="0" cy="0"/>
          <a:chOff x="0" y="0"/>
          <a:chExt cx="0" cy="0"/>
        </a:xfrm>
      </p:grpSpPr>
      <p:sp>
        <p:nvSpPr>
          <p:cNvPr id="2" name="Text 0"/>
          <p:cNvSpPr/>
          <p:nvPr/>
        </p:nvSpPr>
        <p:spPr>
          <a:xfrm>
            <a:off x="812800" y="160655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2A541"/>
                </a:solidFill>
                <a:latin typeface="JetBrains Mono" pitchFamily="49" charset="0"/>
                <a:ea typeface="JetBrains Mono" pitchFamily="49" charset="-122"/>
                <a:cs typeface="JetBrains Mono" pitchFamily="49" charset="-120"/>
              </a:rPr>
              <a:t>PARA LEVAR</a:t>
            </a:r>
            <a:endParaRPr lang="en-US" sz="1300" dirty="0"/>
          </a:p>
        </p:txBody>
      </p:sp>
      <p:sp>
        <p:nvSpPr>
          <p:cNvPr id="3" name="Text 1"/>
          <p:cNvSpPr/>
          <p:nvPr/>
        </p:nvSpPr>
        <p:spPr>
          <a:xfrm>
            <a:off x="812800" y="2142430"/>
            <a:ext cx="9810750" cy="2057400"/>
          </a:xfrm>
          <a:prstGeom prst="rect">
            <a:avLst/>
          </a:prstGeom>
          <a:noFill/>
          <a:ln/>
        </p:spPr>
        <p:txBody>
          <a:bodyPr wrap="square" lIns="0" tIns="0" rIns="0" bIns="0" rtlCol="0" anchor="t">
            <a:normAutofit/>
          </a:bodyPr>
          <a:lstStyle/>
          <a:p>
            <a:pPr marL="0" indent="0" algn="l">
              <a:lnSpc>
                <a:spcPts val="4000"/>
              </a:lnSpc>
              <a:buNone/>
            </a:pPr>
            <a:r>
              <a:rPr lang="en-US" sz="3200" dirty="0">
                <a:solidFill>
                  <a:srgbClr val="F4F1EA"/>
                </a:solidFill>
                <a:latin typeface="Space Grotesk" pitchFamily="34" charset="0"/>
                <a:ea typeface="Space Grotesk" pitchFamily="34" charset="-122"/>
                <a:cs typeface="Space Grotesk" pitchFamily="34" charset="-120"/>
              </a:rPr>
              <a:t>O que você acabou de escrever é, em essência, o mecanismo que decide </a:t>
            </a:r>
            <a:r>
              <a:rPr lang="en-US" sz="3200" dirty="0">
                <a:solidFill>
                  <a:srgbClr val="F2A541"/>
                </a:solidFill>
                <a:latin typeface="Space Grotesk" pitchFamily="34" charset="0"/>
                <a:ea typeface="Space Grotesk" pitchFamily="34" charset="-122"/>
                <a:cs typeface="Space Grotesk" pitchFamily="34" charset="-120"/>
              </a:rPr>
              <a:t>o que fica e o que sai</a:t>
            </a:r>
            <a:r>
              <a:rPr lang="en-US" sz="3200" dirty="0">
                <a:solidFill>
                  <a:srgbClr val="F4F1EA"/>
                </a:solidFill>
                <a:latin typeface="Space Grotesk" pitchFamily="34" charset="0"/>
                <a:ea typeface="Space Grotesk" pitchFamily="34" charset="-122"/>
                <a:cs typeface="Space Grotesk" pitchFamily="34" charset="-120"/>
              </a:rPr>
              <a:t> da memória em praticamente todo sistema em produção.</a:t>
            </a:r>
            <a:endParaRPr lang="en-US" sz="3200" dirty="0"/>
          </a:p>
        </p:txBody>
      </p:sp>
      <p:sp>
        <p:nvSpPr>
          <p:cNvPr id="4" name="Text 2"/>
          <p:cNvSpPr/>
          <p:nvPr/>
        </p:nvSpPr>
        <p:spPr>
          <a:xfrm>
            <a:off x="812800" y="4479230"/>
            <a:ext cx="91567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0CC"/>
                </a:solidFill>
                <a:latin typeface="IBM Plex Sans" pitchFamily="34" charset="0"/>
                <a:ea typeface="IBM Plex Sans" pitchFamily="34" charset="-122"/>
                <a:cs typeface="IBM Plex Sans" pitchFamily="34" charset="-120"/>
              </a:rPr>
              <a:t>Na entrevista: favorito recorrente em processos como o da Amazon — e uma ponte entre algoritmo e system design.</a:t>
            </a:r>
            <a:endParaRPr lang="en-US" sz="16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CC"/>
                </a:solidFill>
                <a:latin typeface="JetBrains Mono" pitchFamily="49" charset="0"/>
                <a:ea typeface="JetBrains Mono" pitchFamily="49" charset="-122"/>
                <a:cs typeface="JetBrains Mono" pitchFamily="49" charset="-120"/>
              </a:rPr>
              <a:t>Workshop de Algoritmos · LRU Cache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a:extLst>
            <a:ext uri="{FF2B5EF4-FFF2-40B4-BE49-F238E27FC236}">
              <a16:creationId xmlns:a16="http://schemas.microsoft.com/office/drawing/2014/main" id="{864F60A6-907B-AA6D-B094-F0AD4C3ACFEA}"/>
            </a:ext>
          </a:extLst>
        </p:cNvPr>
        <p:cNvGrpSpPr/>
        <p:nvPr/>
      </p:nvGrpSpPr>
      <p:grpSpPr>
        <a:xfrm>
          <a:off x="0" y="0"/>
          <a:ext cx="0" cy="0"/>
          <a:chOff x="0" y="0"/>
          <a:chExt cx="0" cy="0"/>
        </a:xfrm>
      </p:grpSpPr>
      <p:sp>
        <p:nvSpPr>
          <p:cNvPr id="13" name="Text 11">
            <a:extLst>
              <a:ext uri="{FF2B5EF4-FFF2-40B4-BE49-F238E27FC236}">
                <a16:creationId xmlns:a16="http://schemas.microsoft.com/office/drawing/2014/main" id="{29B902A7-A0A4-8DB0-E91F-208BD488A26F}"/>
              </a:ext>
            </a:extLst>
          </p:cNvPr>
          <p:cNvSpPr/>
          <p:nvPr/>
        </p:nvSpPr>
        <p:spPr>
          <a:xfrm>
            <a:off x="805181" y="5277863"/>
            <a:ext cx="10832910" cy="256481"/>
          </a:xfrm>
          <a:prstGeom prst="rect">
            <a:avLst/>
          </a:prstGeom>
          <a:noFill/>
          <a:ln/>
        </p:spPr>
        <p:txBody>
          <a:bodyPr wrap="square" lIns="0" tIns="0" rIns="0" bIns="0" rtlCol="0" anchor="t">
            <a:normAutofit/>
          </a:bodyPr>
          <a:lstStyle/>
          <a:p>
            <a:pPr>
              <a:buSzPct val="100000"/>
            </a:pPr>
            <a:r>
              <a:rPr lang="en-US" sz="1500" dirty="0" err="1">
                <a:solidFill>
                  <a:srgbClr val="1A1D24"/>
                </a:solidFill>
                <a:latin typeface="IBM Plex Sans" pitchFamily="34" charset="0"/>
                <a:ea typeface="IBM Plex Sans" pitchFamily="34" charset="-122"/>
                <a:cs typeface="IBM Plex Sans" pitchFamily="34" charset="-120"/>
              </a:rPr>
              <a:t>Github</a:t>
            </a:r>
            <a:r>
              <a:rPr lang="en-US" sz="1500" dirty="0">
                <a:solidFill>
                  <a:srgbClr val="1A1D24"/>
                </a:solidFill>
                <a:latin typeface="IBM Plex Sans" pitchFamily="34" charset="0"/>
                <a:ea typeface="IBM Plex Sans" pitchFamily="34" charset="-122"/>
                <a:cs typeface="IBM Plex Sans" pitchFamily="34" charset="-120"/>
              </a:rPr>
              <a:t>: </a:t>
            </a:r>
            <a:r>
              <a:rPr lang="pt-BR" sz="1200" dirty="0" err="1">
                <a:hlinkClick r:id="rId3"/>
              </a:rPr>
              <a:t>lincolnolivr</a:t>
            </a:r>
            <a:r>
              <a:rPr lang="pt-BR" sz="1200" dirty="0">
                <a:hlinkClick r:id="rId3"/>
              </a:rPr>
              <a:t>/</a:t>
            </a:r>
            <a:r>
              <a:rPr lang="pt-BR" sz="1200" dirty="0" err="1">
                <a:hlinkClick r:id="rId3"/>
              </a:rPr>
              <a:t>lru_cache</a:t>
            </a:r>
            <a:endParaRPr lang="en-US" sz="1500" dirty="0"/>
          </a:p>
        </p:txBody>
      </p:sp>
      <p:sp>
        <p:nvSpPr>
          <p:cNvPr id="18" name="Text 0">
            <a:extLst>
              <a:ext uri="{FF2B5EF4-FFF2-40B4-BE49-F238E27FC236}">
                <a16:creationId xmlns:a16="http://schemas.microsoft.com/office/drawing/2014/main" id="{B215F32B-A43E-E298-62E9-0A695B993080}"/>
              </a:ext>
            </a:extLst>
          </p:cNvPr>
          <p:cNvSpPr>
            <a:spLocks noGrp="1"/>
          </p:cNvSpPr>
          <p:nvPr>
            <p:ph type="title"/>
          </p:nvPr>
        </p:nvSpPr>
        <p:spPr>
          <a:xfrm>
            <a:off x="812800" y="762424"/>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dirty="0" err="1">
                <a:solidFill>
                  <a:schemeClr val="bg1"/>
                </a:solidFill>
              </a:rPr>
              <a:t>Baixe</a:t>
            </a:r>
            <a:r>
              <a:rPr lang="en-US" sz="2800" b="1" dirty="0">
                <a:solidFill>
                  <a:schemeClr val="bg1"/>
                </a:solidFill>
              </a:rPr>
              <a:t> o Material</a:t>
            </a:r>
            <a:endParaRPr lang="en-US" sz="2800" dirty="0">
              <a:solidFill>
                <a:schemeClr val="bg1"/>
              </a:solidFill>
            </a:endParaRPr>
          </a:p>
        </p:txBody>
      </p:sp>
      <p:sp>
        <p:nvSpPr>
          <p:cNvPr id="20" name="Text 0">
            <a:extLst>
              <a:ext uri="{FF2B5EF4-FFF2-40B4-BE49-F238E27FC236}">
                <a16:creationId xmlns:a16="http://schemas.microsoft.com/office/drawing/2014/main" id="{59521343-ACE8-B128-37BF-CE55DFAB7E1A}"/>
              </a:ext>
            </a:extLst>
          </p:cNvPr>
          <p:cNvSpPr/>
          <p:nvPr/>
        </p:nvSpPr>
        <p:spPr>
          <a:xfrm>
            <a:off x="812800" y="1119852"/>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chemeClr val="accent6">
                    <a:lumMod val="50000"/>
                  </a:schemeClr>
                </a:solidFill>
                <a:latin typeface="JetBrains Mono" pitchFamily="49" charset="0"/>
                <a:cs typeface="JetBrains Mono" pitchFamily="49" charset="-120"/>
              </a:rPr>
              <a:t>RESOLUÇÃO EM PYTHON</a:t>
            </a:r>
            <a:endParaRPr lang="en-US" sz="1300" dirty="0">
              <a:solidFill>
                <a:schemeClr val="accent6">
                  <a:lumMod val="50000"/>
                </a:schemeClr>
              </a:solidFill>
            </a:endParaRPr>
          </a:p>
        </p:txBody>
      </p:sp>
      <p:pic>
        <p:nvPicPr>
          <p:cNvPr id="22" name="Imagem 21">
            <a:extLst>
              <a:ext uri="{FF2B5EF4-FFF2-40B4-BE49-F238E27FC236}">
                <a16:creationId xmlns:a16="http://schemas.microsoft.com/office/drawing/2014/main" id="{79F9EFED-01DF-A49E-9663-EDD6C79CC5E8}"/>
              </a:ext>
            </a:extLst>
          </p:cNvPr>
          <p:cNvPicPr>
            <a:picLocks noChangeAspect="1"/>
          </p:cNvPicPr>
          <p:nvPr/>
        </p:nvPicPr>
        <p:blipFill>
          <a:blip r:embed="rId4"/>
          <a:stretch>
            <a:fillRect/>
          </a:stretch>
        </p:blipFill>
        <p:spPr>
          <a:xfrm>
            <a:off x="805181" y="1536372"/>
            <a:ext cx="3496224" cy="3496224"/>
          </a:xfrm>
          <a:prstGeom prst="roundRect">
            <a:avLst/>
          </a:prstGeom>
        </p:spPr>
      </p:pic>
    </p:spTree>
    <p:extLst>
      <p:ext uri="{BB962C8B-B14F-4D97-AF65-F5344CB8AC3E}">
        <p14:creationId xmlns:p14="http://schemas.microsoft.com/office/powerpoint/2010/main" val="2556456760"/>
      </p:ext>
    </p:extLst>
  </p:cSld>
  <p:clrMapOvr>
    <a:masterClrMapping/>
  </p:clrMapOvr>
</p:sld>
</file>

<file path=ppt/theme/theme1.xml><?xml version="1.0" encoding="utf-8"?>
<a:theme xmlns:a="http://schemas.openxmlformats.org/drawingml/2006/main" name="LRU Cache — Workshop de Algoritmos">
  <a:themeElements>
    <a:clrScheme name="LRU Cache — Workshop de Algoritmos">
      <a:dk1>
        <a:srgbClr val="12161F"/>
      </a:dk1>
      <a:lt1>
        <a:srgbClr val="F4F1EA"/>
      </a:lt1>
      <a:dk2>
        <a:srgbClr val="292C33"/>
      </a:dk2>
      <a:lt2>
        <a:srgbClr val="BCBAB7"/>
      </a:lt2>
      <a:accent1>
        <a:srgbClr val="A65A00"/>
      </a:accent1>
      <a:accent2>
        <a:srgbClr val="F2A541"/>
      </a:accent2>
      <a:accent3>
        <a:srgbClr val="2F5DB8"/>
      </a:accent3>
      <a:accent4>
        <a:srgbClr val="C99A5E"/>
      </a:accent4>
      <a:accent5>
        <a:srgbClr val="7E91B4"/>
      </a:accent5>
      <a:accent6>
        <a:srgbClr val="B9C0CC"/>
      </a:accent6>
      <a:hlink>
        <a:srgbClr val="0563C1"/>
      </a:hlink>
      <a:folHlink>
        <a:srgbClr val="954F72"/>
      </a:folHlink>
    </a:clrScheme>
    <a:fontScheme name="LRU Cache — Workshop de Algoritmo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2661</Words>
  <Application>Microsoft Office PowerPoint</Application>
  <PresentationFormat>Widescreen</PresentationFormat>
  <Paragraphs>309</Paragraphs>
  <Slides>17</Slides>
  <Notes>17</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17</vt:i4>
      </vt:variant>
    </vt:vector>
  </HeadingPairs>
  <TitlesOfParts>
    <vt:vector size="22" baseType="lpstr">
      <vt:lpstr>JetBrains Mono</vt:lpstr>
      <vt:lpstr>IBM Plex Sans</vt:lpstr>
      <vt:lpstr>Space Grotesk</vt:lpstr>
      <vt:lpstr>Arial</vt:lpstr>
      <vt:lpstr>LRU Cache — Workshop de Algoritmos</vt:lpstr>
      <vt:lpstr>LRU Cache</vt:lpstr>
      <vt:lpstr>Lincoln Oliver</vt:lpstr>
      <vt:lpstr>Guardar perto o que você vai usar de novo</vt:lpstr>
      <vt:lpstr>Quem sai quando o cache enche?</vt:lpstr>
      <vt:lpstr>LRU em ação: capacidade 3</vt:lpstr>
      <vt:lpstr>Onde o LRU roda hoje</vt:lpstr>
      <vt:lpstr>Você esbarra em cache o tempo todo</vt:lpstr>
      <vt:lpstr>Onde um cache faz diferença</vt:lpstr>
      <vt:lpstr>Como o tempo cresce quando os dados crescem</vt:lpstr>
      <vt:lpstr>Hashmap + lista duplamente encadeada</vt:lpstr>
      <vt:lpstr>Implemente um LRUCache</vt:lpstr>
      <vt:lpstr>Saída: 1, -1, -1, 3, 4</vt:lpstr>
      <vt:lpstr>Resolução em Python</vt:lpstr>
      <vt:lpstr>Onde quase todo mundo erra</vt:lpstr>
      <vt:lpstr>Onde usar LRU no dia a dia de dev</vt:lpstr>
      <vt:lpstr>Apresentação do PowerPoint</vt:lpstr>
      <vt:lpstr>Baixe o Material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LRU Cache — Workshop de Algoritmos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Lincoln Oliver</cp:lastModifiedBy>
  <cp:revision>2</cp:revision>
  <dcterms:created xsi:type="dcterms:W3CDTF">2026-10-24T03:04:31Z</dcterms:created>
  <dcterms:modified xsi:type="dcterms:W3CDTF">2026-10-24T03:16:40Z</dcterms:modified>
</cp:coreProperties>
</file>